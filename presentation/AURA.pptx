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E4D865-DD9D-464D-8790-479C20A645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AC97A7-91BD-4380-BADA-332CEEF317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• Text descriptions</a:t>
          </a:r>
          <a:endParaRPr lang="en-US"/>
        </a:p>
      </dgm:t>
    </dgm:pt>
    <dgm:pt modelId="{CE704E57-2D53-40E8-81C2-656F14DB568D}" type="parTrans" cxnId="{F65DE0E4-D666-4D25-BA49-73F90ECE78AE}">
      <dgm:prSet/>
      <dgm:spPr/>
      <dgm:t>
        <a:bodyPr/>
        <a:lstStyle/>
        <a:p>
          <a:endParaRPr lang="en-US"/>
        </a:p>
      </dgm:t>
    </dgm:pt>
    <dgm:pt modelId="{9D449997-B83F-48AA-AA91-4E5A25D4B6DC}" type="sibTrans" cxnId="{F65DE0E4-D666-4D25-BA49-73F90ECE78AE}">
      <dgm:prSet/>
      <dgm:spPr/>
      <dgm:t>
        <a:bodyPr/>
        <a:lstStyle/>
        <a:p>
          <a:endParaRPr lang="en-US"/>
        </a:p>
      </dgm:t>
    </dgm:pt>
    <dgm:pt modelId="{789F52B2-7BAE-4BB3-8CD0-168AC5921A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• Sample queries</a:t>
          </a:r>
          <a:endParaRPr lang="en-US"/>
        </a:p>
      </dgm:t>
    </dgm:pt>
    <dgm:pt modelId="{FFB08B11-AD33-4E1A-A23E-F707BCF552A9}" type="parTrans" cxnId="{9A9632A9-832C-455C-B18B-654003F80919}">
      <dgm:prSet/>
      <dgm:spPr/>
      <dgm:t>
        <a:bodyPr/>
        <a:lstStyle/>
        <a:p>
          <a:endParaRPr lang="en-US"/>
        </a:p>
      </dgm:t>
    </dgm:pt>
    <dgm:pt modelId="{1DC305B5-B7E9-4999-9B1A-DFA4B1422638}" type="sibTrans" cxnId="{9A9632A9-832C-455C-B18B-654003F80919}">
      <dgm:prSet/>
      <dgm:spPr/>
      <dgm:t>
        <a:bodyPr/>
        <a:lstStyle/>
        <a:p>
          <a:endParaRPr lang="en-US"/>
        </a:p>
      </dgm:t>
    </dgm:pt>
    <dgm:pt modelId="{E6A28C02-EF38-42BF-AB43-8D82A184B7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• Audio upload </a:t>
          </a:r>
          <a:endParaRPr lang="en-US"/>
        </a:p>
      </dgm:t>
    </dgm:pt>
    <dgm:pt modelId="{B2E88AFD-5627-40FC-808E-4A2098D26E75}" type="parTrans" cxnId="{C5321413-5BA4-470E-9A5A-974A0E94E50D}">
      <dgm:prSet/>
      <dgm:spPr/>
      <dgm:t>
        <a:bodyPr/>
        <a:lstStyle/>
        <a:p>
          <a:endParaRPr lang="en-US"/>
        </a:p>
      </dgm:t>
    </dgm:pt>
    <dgm:pt modelId="{3CB0E06E-D0EB-4AEC-B69D-73DF4FE0B0C5}" type="sibTrans" cxnId="{C5321413-5BA4-470E-9A5A-974A0E94E50D}">
      <dgm:prSet/>
      <dgm:spPr/>
      <dgm:t>
        <a:bodyPr/>
        <a:lstStyle/>
        <a:p>
          <a:endParaRPr lang="en-US"/>
        </a:p>
      </dgm:t>
    </dgm:pt>
    <dgm:pt modelId="{930C0B99-7F08-4557-B909-9E5810D509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• Results with metadata, genre badges, similarity scores</a:t>
          </a:r>
          <a:endParaRPr lang="en-US"/>
        </a:p>
      </dgm:t>
    </dgm:pt>
    <dgm:pt modelId="{B194B31E-8CEF-46B0-A36A-229370E5BD62}" type="parTrans" cxnId="{0F06621B-C5BF-44B4-8432-D54772A8537E}">
      <dgm:prSet/>
      <dgm:spPr/>
      <dgm:t>
        <a:bodyPr/>
        <a:lstStyle/>
        <a:p>
          <a:endParaRPr lang="en-US"/>
        </a:p>
      </dgm:t>
    </dgm:pt>
    <dgm:pt modelId="{3AEE974E-A2F3-47CC-A956-AA175023A0FB}" type="sibTrans" cxnId="{0F06621B-C5BF-44B4-8432-D54772A8537E}">
      <dgm:prSet/>
      <dgm:spPr/>
      <dgm:t>
        <a:bodyPr/>
        <a:lstStyle/>
        <a:p>
          <a:endParaRPr lang="en-US"/>
        </a:p>
      </dgm:t>
    </dgm:pt>
    <dgm:pt modelId="{61C030CB-3E17-4928-B82A-FCC7B795FB94}" type="pres">
      <dgm:prSet presAssocID="{27E4D865-DD9D-464D-8790-479C20A64549}" presName="root" presStyleCnt="0">
        <dgm:presLayoutVars>
          <dgm:dir/>
          <dgm:resizeHandles val="exact"/>
        </dgm:presLayoutVars>
      </dgm:prSet>
      <dgm:spPr/>
    </dgm:pt>
    <dgm:pt modelId="{A0605764-E645-4E7F-B69E-AEA3315B9816}" type="pres">
      <dgm:prSet presAssocID="{50AC97A7-91BD-4380-BADA-332CEEF317D5}" presName="compNode" presStyleCnt="0"/>
      <dgm:spPr/>
    </dgm:pt>
    <dgm:pt modelId="{212FCB0D-EF3F-4609-BB06-FF905F1BA8B5}" type="pres">
      <dgm:prSet presAssocID="{50AC97A7-91BD-4380-BADA-332CEEF317D5}" presName="iconBgRect" presStyleLbl="bgShp" presStyleIdx="0" presStyleCnt="4"/>
      <dgm:spPr/>
    </dgm:pt>
    <dgm:pt modelId="{F9F6AB67-8A6E-42E4-BDF0-4221DACDD1D3}" type="pres">
      <dgm:prSet presAssocID="{50AC97A7-91BD-4380-BADA-332CEEF317D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Документ"/>
        </a:ext>
      </dgm:extLst>
    </dgm:pt>
    <dgm:pt modelId="{F399DDCD-CD20-424C-8AA0-8C3354C2219A}" type="pres">
      <dgm:prSet presAssocID="{50AC97A7-91BD-4380-BADA-332CEEF317D5}" presName="spaceRect" presStyleCnt="0"/>
      <dgm:spPr/>
    </dgm:pt>
    <dgm:pt modelId="{DF9529ED-3FDD-49C9-8911-804870C632ED}" type="pres">
      <dgm:prSet presAssocID="{50AC97A7-91BD-4380-BADA-332CEEF317D5}" presName="textRect" presStyleLbl="revTx" presStyleIdx="0" presStyleCnt="4">
        <dgm:presLayoutVars>
          <dgm:chMax val="1"/>
          <dgm:chPref val="1"/>
        </dgm:presLayoutVars>
      </dgm:prSet>
      <dgm:spPr/>
    </dgm:pt>
    <dgm:pt modelId="{867B96A0-18EF-4A77-87AE-E4CB88A4573B}" type="pres">
      <dgm:prSet presAssocID="{9D449997-B83F-48AA-AA91-4E5A25D4B6DC}" presName="sibTrans" presStyleCnt="0"/>
      <dgm:spPr/>
    </dgm:pt>
    <dgm:pt modelId="{2EBFAEEA-2312-47D1-8FE4-CEF93DF2834E}" type="pres">
      <dgm:prSet presAssocID="{789F52B2-7BAE-4BB3-8CD0-168AC5921AFD}" presName="compNode" presStyleCnt="0"/>
      <dgm:spPr/>
    </dgm:pt>
    <dgm:pt modelId="{BA3674A1-7E54-4D24-A153-4B89DCCD8A3B}" type="pres">
      <dgm:prSet presAssocID="{789F52B2-7BAE-4BB3-8CD0-168AC5921AFD}" presName="iconBgRect" presStyleLbl="bgShp" presStyleIdx="1" presStyleCnt="4"/>
      <dgm:spPr/>
    </dgm:pt>
    <dgm:pt modelId="{EB21E6BD-D185-4B53-AD49-D6247AF72C74}" type="pres">
      <dgm:prSet presAssocID="{789F52B2-7BAE-4BB3-8CD0-168AC5921AF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9DC5508-3F4D-4682-BF32-5586E45AEE24}" type="pres">
      <dgm:prSet presAssocID="{789F52B2-7BAE-4BB3-8CD0-168AC5921AFD}" presName="spaceRect" presStyleCnt="0"/>
      <dgm:spPr/>
    </dgm:pt>
    <dgm:pt modelId="{6683C531-DCF4-4B63-85CD-F6D4C7FAD407}" type="pres">
      <dgm:prSet presAssocID="{789F52B2-7BAE-4BB3-8CD0-168AC5921AFD}" presName="textRect" presStyleLbl="revTx" presStyleIdx="1" presStyleCnt="4">
        <dgm:presLayoutVars>
          <dgm:chMax val="1"/>
          <dgm:chPref val="1"/>
        </dgm:presLayoutVars>
      </dgm:prSet>
      <dgm:spPr/>
    </dgm:pt>
    <dgm:pt modelId="{3D450B95-7E12-4972-88BC-C37FCFFA4BA8}" type="pres">
      <dgm:prSet presAssocID="{1DC305B5-B7E9-4999-9B1A-DFA4B1422638}" presName="sibTrans" presStyleCnt="0"/>
      <dgm:spPr/>
    </dgm:pt>
    <dgm:pt modelId="{60FC5300-C1D0-4E3E-A94B-805E9FE7C028}" type="pres">
      <dgm:prSet presAssocID="{E6A28C02-EF38-42BF-AB43-8D82A184B7E9}" presName="compNode" presStyleCnt="0"/>
      <dgm:spPr/>
    </dgm:pt>
    <dgm:pt modelId="{C9367336-D55B-479E-8E03-3407584D4BF1}" type="pres">
      <dgm:prSet presAssocID="{E6A28C02-EF38-42BF-AB43-8D82A184B7E9}" presName="iconBgRect" presStyleLbl="bgShp" presStyleIdx="2" presStyleCnt="4"/>
      <dgm:spPr/>
    </dgm:pt>
    <dgm:pt modelId="{CE296114-3DF8-4792-9E07-2939339DCE0A}" type="pres">
      <dgm:prSet presAssocID="{E6A28C02-EF38-42BF-AB43-8D82A184B7E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одкаст"/>
        </a:ext>
      </dgm:extLst>
    </dgm:pt>
    <dgm:pt modelId="{F1BE0FBE-D333-4091-A94B-BD57386100EA}" type="pres">
      <dgm:prSet presAssocID="{E6A28C02-EF38-42BF-AB43-8D82A184B7E9}" presName="spaceRect" presStyleCnt="0"/>
      <dgm:spPr/>
    </dgm:pt>
    <dgm:pt modelId="{40BC48F1-1319-4E83-9B16-A2E5AE18C494}" type="pres">
      <dgm:prSet presAssocID="{E6A28C02-EF38-42BF-AB43-8D82A184B7E9}" presName="textRect" presStyleLbl="revTx" presStyleIdx="2" presStyleCnt="4">
        <dgm:presLayoutVars>
          <dgm:chMax val="1"/>
          <dgm:chPref val="1"/>
        </dgm:presLayoutVars>
      </dgm:prSet>
      <dgm:spPr/>
    </dgm:pt>
    <dgm:pt modelId="{9388A221-1D79-4A24-AC4F-7072FB9432DD}" type="pres">
      <dgm:prSet presAssocID="{3CB0E06E-D0EB-4AEC-B69D-73DF4FE0B0C5}" presName="sibTrans" presStyleCnt="0"/>
      <dgm:spPr/>
    </dgm:pt>
    <dgm:pt modelId="{BABE4E6B-EE0B-486E-BF0C-24E078A50CA2}" type="pres">
      <dgm:prSet presAssocID="{930C0B99-7F08-4557-B909-9E5810D5098E}" presName="compNode" presStyleCnt="0"/>
      <dgm:spPr/>
    </dgm:pt>
    <dgm:pt modelId="{DF39C5AA-507E-44F8-99C4-BB8EC5B807C1}" type="pres">
      <dgm:prSet presAssocID="{930C0B99-7F08-4557-B909-9E5810D5098E}" presName="iconBgRect" presStyleLbl="bgShp" presStyleIdx="3" presStyleCnt="4"/>
      <dgm:spPr/>
    </dgm:pt>
    <dgm:pt modelId="{24B4C404-12DE-48A7-86BC-711E58FD06ED}" type="pres">
      <dgm:prSet presAssocID="{930C0B99-7F08-4557-B909-9E5810D509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Диплом"/>
        </a:ext>
      </dgm:extLst>
    </dgm:pt>
    <dgm:pt modelId="{E9A3F66C-FA26-44C8-85BF-D75A5D97954E}" type="pres">
      <dgm:prSet presAssocID="{930C0B99-7F08-4557-B909-9E5810D5098E}" presName="spaceRect" presStyleCnt="0"/>
      <dgm:spPr/>
    </dgm:pt>
    <dgm:pt modelId="{547B1EDC-956F-4006-BF40-841784C2F099}" type="pres">
      <dgm:prSet presAssocID="{930C0B99-7F08-4557-B909-9E5810D509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321413-5BA4-470E-9A5A-974A0E94E50D}" srcId="{27E4D865-DD9D-464D-8790-479C20A64549}" destId="{E6A28C02-EF38-42BF-AB43-8D82A184B7E9}" srcOrd="2" destOrd="0" parTransId="{B2E88AFD-5627-40FC-808E-4A2098D26E75}" sibTransId="{3CB0E06E-D0EB-4AEC-B69D-73DF4FE0B0C5}"/>
    <dgm:cxn modelId="{24BA9115-2672-4C04-AD03-04F15AF46FBD}" type="presOf" srcId="{50AC97A7-91BD-4380-BADA-332CEEF317D5}" destId="{DF9529ED-3FDD-49C9-8911-804870C632ED}" srcOrd="0" destOrd="0" presId="urn:microsoft.com/office/officeart/2018/5/layout/IconCircleLabelList"/>
    <dgm:cxn modelId="{3A82691A-F32B-4FA1-B7F3-F51220F48138}" type="presOf" srcId="{789F52B2-7BAE-4BB3-8CD0-168AC5921AFD}" destId="{6683C531-DCF4-4B63-85CD-F6D4C7FAD407}" srcOrd="0" destOrd="0" presId="urn:microsoft.com/office/officeart/2018/5/layout/IconCircleLabelList"/>
    <dgm:cxn modelId="{0F06621B-C5BF-44B4-8432-D54772A8537E}" srcId="{27E4D865-DD9D-464D-8790-479C20A64549}" destId="{930C0B99-7F08-4557-B909-9E5810D5098E}" srcOrd="3" destOrd="0" parTransId="{B194B31E-8CEF-46B0-A36A-229370E5BD62}" sibTransId="{3AEE974E-A2F3-47CC-A956-AA175023A0FB}"/>
    <dgm:cxn modelId="{09C8F76A-2B3E-4CEE-B044-30C09C5DE1F2}" type="presOf" srcId="{930C0B99-7F08-4557-B909-9E5810D5098E}" destId="{547B1EDC-956F-4006-BF40-841784C2F099}" srcOrd="0" destOrd="0" presId="urn:microsoft.com/office/officeart/2018/5/layout/IconCircleLabelList"/>
    <dgm:cxn modelId="{9A9632A9-832C-455C-B18B-654003F80919}" srcId="{27E4D865-DD9D-464D-8790-479C20A64549}" destId="{789F52B2-7BAE-4BB3-8CD0-168AC5921AFD}" srcOrd="1" destOrd="0" parTransId="{FFB08B11-AD33-4E1A-A23E-F707BCF552A9}" sibTransId="{1DC305B5-B7E9-4999-9B1A-DFA4B1422638}"/>
    <dgm:cxn modelId="{24F035B1-4CC5-436F-828B-DEA521B7D6A8}" type="presOf" srcId="{27E4D865-DD9D-464D-8790-479C20A64549}" destId="{61C030CB-3E17-4928-B82A-FCC7B795FB94}" srcOrd="0" destOrd="0" presId="urn:microsoft.com/office/officeart/2018/5/layout/IconCircleLabelList"/>
    <dgm:cxn modelId="{9DD977D1-0CC2-4643-B1F8-9F18AD183DDC}" type="presOf" srcId="{E6A28C02-EF38-42BF-AB43-8D82A184B7E9}" destId="{40BC48F1-1319-4E83-9B16-A2E5AE18C494}" srcOrd="0" destOrd="0" presId="urn:microsoft.com/office/officeart/2018/5/layout/IconCircleLabelList"/>
    <dgm:cxn modelId="{F65DE0E4-D666-4D25-BA49-73F90ECE78AE}" srcId="{27E4D865-DD9D-464D-8790-479C20A64549}" destId="{50AC97A7-91BD-4380-BADA-332CEEF317D5}" srcOrd="0" destOrd="0" parTransId="{CE704E57-2D53-40E8-81C2-656F14DB568D}" sibTransId="{9D449997-B83F-48AA-AA91-4E5A25D4B6DC}"/>
    <dgm:cxn modelId="{E489BACC-781B-4059-805D-4A206BA1E8D2}" type="presParOf" srcId="{61C030CB-3E17-4928-B82A-FCC7B795FB94}" destId="{A0605764-E645-4E7F-B69E-AEA3315B9816}" srcOrd="0" destOrd="0" presId="urn:microsoft.com/office/officeart/2018/5/layout/IconCircleLabelList"/>
    <dgm:cxn modelId="{901F9561-02D8-456F-86E7-4A7C6C1DAA03}" type="presParOf" srcId="{A0605764-E645-4E7F-B69E-AEA3315B9816}" destId="{212FCB0D-EF3F-4609-BB06-FF905F1BA8B5}" srcOrd="0" destOrd="0" presId="urn:microsoft.com/office/officeart/2018/5/layout/IconCircleLabelList"/>
    <dgm:cxn modelId="{0492C2D8-E69F-47CC-A536-99D6B304BA0C}" type="presParOf" srcId="{A0605764-E645-4E7F-B69E-AEA3315B9816}" destId="{F9F6AB67-8A6E-42E4-BDF0-4221DACDD1D3}" srcOrd="1" destOrd="0" presId="urn:microsoft.com/office/officeart/2018/5/layout/IconCircleLabelList"/>
    <dgm:cxn modelId="{2C07C375-EDB8-48D5-831F-12BA9E72EA58}" type="presParOf" srcId="{A0605764-E645-4E7F-B69E-AEA3315B9816}" destId="{F399DDCD-CD20-424C-8AA0-8C3354C2219A}" srcOrd="2" destOrd="0" presId="urn:microsoft.com/office/officeart/2018/5/layout/IconCircleLabelList"/>
    <dgm:cxn modelId="{2DB265D7-6A8A-48C9-A84E-1A572D0EE1D7}" type="presParOf" srcId="{A0605764-E645-4E7F-B69E-AEA3315B9816}" destId="{DF9529ED-3FDD-49C9-8911-804870C632ED}" srcOrd="3" destOrd="0" presId="urn:microsoft.com/office/officeart/2018/5/layout/IconCircleLabelList"/>
    <dgm:cxn modelId="{57C9ADEC-972C-4174-A83E-D025D7D0AE02}" type="presParOf" srcId="{61C030CB-3E17-4928-B82A-FCC7B795FB94}" destId="{867B96A0-18EF-4A77-87AE-E4CB88A4573B}" srcOrd="1" destOrd="0" presId="urn:microsoft.com/office/officeart/2018/5/layout/IconCircleLabelList"/>
    <dgm:cxn modelId="{69244392-D364-43E8-BE93-640B3D11B130}" type="presParOf" srcId="{61C030CB-3E17-4928-B82A-FCC7B795FB94}" destId="{2EBFAEEA-2312-47D1-8FE4-CEF93DF2834E}" srcOrd="2" destOrd="0" presId="urn:microsoft.com/office/officeart/2018/5/layout/IconCircleLabelList"/>
    <dgm:cxn modelId="{3C7E215B-90C3-416F-8E06-961B5560F225}" type="presParOf" srcId="{2EBFAEEA-2312-47D1-8FE4-CEF93DF2834E}" destId="{BA3674A1-7E54-4D24-A153-4B89DCCD8A3B}" srcOrd="0" destOrd="0" presId="urn:microsoft.com/office/officeart/2018/5/layout/IconCircleLabelList"/>
    <dgm:cxn modelId="{4AB241C2-DB35-4140-82F4-062AA2362FA0}" type="presParOf" srcId="{2EBFAEEA-2312-47D1-8FE4-CEF93DF2834E}" destId="{EB21E6BD-D185-4B53-AD49-D6247AF72C74}" srcOrd="1" destOrd="0" presId="urn:microsoft.com/office/officeart/2018/5/layout/IconCircleLabelList"/>
    <dgm:cxn modelId="{B69F1D28-7011-49CE-B789-4E5B3F348156}" type="presParOf" srcId="{2EBFAEEA-2312-47D1-8FE4-CEF93DF2834E}" destId="{89DC5508-3F4D-4682-BF32-5586E45AEE24}" srcOrd="2" destOrd="0" presId="urn:microsoft.com/office/officeart/2018/5/layout/IconCircleLabelList"/>
    <dgm:cxn modelId="{8D0699BC-BDDA-4D82-94BA-722BEF571BE5}" type="presParOf" srcId="{2EBFAEEA-2312-47D1-8FE4-CEF93DF2834E}" destId="{6683C531-DCF4-4B63-85CD-F6D4C7FAD407}" srcOrd="3" destOrd="0" presId="urn:microsoft.com/office/officeart/2018/5/layout/IconCircleLabelList"/>
    <dgm:cxn modelId="{5EF8F308-E38E-4E59-AEDC-81C27168F680}" type="presParOf" srcId="{61C030CB-3E17-4928-B82A-FCC7B795FB94}" destId="{3D450B95-7E12-4972-88BC-C37FCFFA4BA8}" srcOrd="3" destOrd="0" presId="urn:microsoft.com/office/officeart/2018/5/layout/IconCircleLabelList"/>
    <dgm:cxn modelId="{6B4584AA-DC06-4609-A47B-8E726A82623C}" type="presParOf" srcId="{61C030CB-3E17-4928-B82A-FCC7B795FB94}" destId="{60FC5300-C1D0-4E3E-A94B-805E9FE7C028}" srcOrd="4" destOrd="0" presId="urn:microsoft.com/office/officeart/2018/5/layout/IconCircleLabelList"/>
    <dgm:cxn modelId="{C3D0EDEC-6B3B-4310-A5BF-75A173B3B260}" type="presParOf" srcId="{60FC5300-C1D0-4E3E-A94B-805E9FE7C028}" destId="{C9367336-D55B-479E-8E03-3407584D4BF1}" srcOrd="0" destOrd="0" presId="urn:microsoft.com/office/officeart/2018/5/layout/IconCircleLabelList"/>
    <dgm:cxn modelId="{5789CB1C-4A29-48EA-A494-EAC11A7EBC05}" type="presParOf" srcId="{60FC5300-C1D0-4E3E-A94B-805E9FE7C028}" destId="{CE296114-3DF8-4792-9E07-2939339DCE0A}" srcOrd="1" destOrd="0" presId="urn:microsoft.com/office/officeart/2018/5/layout/IconCircleLabelList"/>
    <dgm:cxn modelId="{57900AE0-C8AB-490F-A028-8948BBC8D0FA}" type="presParOf" srcId="{60FC5300-C1D0-4E3E-A94B-805E9FE7C028}" destId="{F1BE0FBE-D333-4091-A94B-BD57386100EA}" srcOrd="2" destOrd="0" presId="urn:microsoft.com/office/officeart/2018/5/layout/IconCircleLabelList"/>
    <dgm:cxn modelId="{88C668A4-ADF3-43C5-AD4F-74F241D67317}" type="presParOf" srcId="{60FC5300-C1D0-4E3E-A94B-805E9FE7C028}" destId="{40BC48F1-1319-4E83-9B16-A2E5AE18C494}" srcOrd="3" destOrd="0" presId="urn:microsoft.com/office/officeart/2018/5/layout/IconCircleLabelList"/>
    <dgm:cxn modelId="{67FCE38F-8BBA-4674-8B00-4268BB006880}" type="presParOf" srcId="{61C030CB-3E17-4928-B82A-FCC7B795FB94}" destId="{9388A221-1D79-4A24-AC4F-7072FB9432DD}" srcOrd="5" destOrd="0" presId="urn:microsoft.com/office/officeart/2018/5/layout/IconCircleLabelList"/>
    <dgm:cxn modelId="{C83463DC-377C-43BE-9561-9B08D8B08368}" type="presParOf" srcId="{61C030CB-3E17-4928-B82A-FCC7B795FB94}" destId="{BABE4E6B-EE0B-486E-BF0C-24E078A50CA2}" srcOrd="6" destOrd="0" presId="urn:microsoft.com/office/officeart/2018/5/layout/IconCircleLabelList"/>
    <dgm:cxn modelId="{C1B8528E-0D51-449A-AC8C-94052E85877A}" type="presParOf" srcId="{BABE4E6B-EE0B-486E-BF0C-24E078A50CA2}" destId="{DF39C5AA-507E-44F8-99C4-BB8EC5B807C1}" srcOrd="0" destOrd="0" presId="urn:microsoft.com/office/officeart/2018/5/layout/IconCircleLabelList"/>
    <dgm:cxn modelId="{368E84D8-5ED9-4EFA-842C-20CA8493F157}" type="presParOf" srcId="{BABE4E6B-EE0B-486E-BF0C-24E078A50CA2}" destId="{24B4C404-12DE-48A7-86BC-711E58FD06ED}" srcOrd="1" destOrd="0" presId="urn:microsoft.com/office/officeart/2018/5/layout/IconCircleLabelList"/>
    <dgm:cxn modelId="{0481AF90-4C43-48C5-8E9F-1B506536DD15}" type="presParOf" srcId="{BABE4E6B-EE0B-486E-BF0C-24E078A50CA2}" destId="{E9A3F66C-FA26-44C8-85BF-D75A5D97954E}" srcOrd="2" destOrd="0" presId="urn:microsoft.com/office/officeart/2018/5/layout/IconCircleLabelList"/>
    <dgm:cxn modelId="{A5BD9D0D-CB2E-4006-ABE6-8441D40E8D5D}" type="presParOf" srcId="{BABE4E6B-EE0B-486E-BF0C-24E078A50CA2}" destId="{547B1EDC-956F-4006-BF40-841784C2F09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FCB0D-EF3F-4609-BB06-FF905F1BA8B5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6AB67-8A6E-42E4-BDF0-4221DACDD1D3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529ED-3FDD-49C9-8911-804870C632ED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kern="1200"/>
            <a:t>• Text descriptions</a:t>
          </a:r>
          <a:endParaRPr lang="en-US" sz="1400" kern="1200"/>
        </a:p>
      </dsp:txBody>
      <dsp:txXfrm>
        <a:off x="569079" y="2644614"/>
        <a:ext cx="2072362" cy="720000"/>
      </dsp:txXfrm>
    </dsp:sp>
    <dsp:sp modelId="{BA3674A1-7E54-4D24-A153-4B89DCCD8A3B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1E6BD-D185-4B53-AD49-D6247AF72C74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3C531-DCF4-4B63-85CD-F6D4C7FAD407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kern="1200"/>
            <a:t>• Sample queries</a:t>
          </a:r>
          <a:endParaRPr lang="en-US" sz="1400" kern="1200"/>
        </a:p>
      </dsp:txBody>
      <dsp:txXfrm>
        <a:off x="3004105" y="2644614"/>
        <a:ext cx="2072362" cy="720000"/>
      </dsp:txXfrm>
    </dsp:sp>
    <dsp:sp modelId="{C9367336-D55B-479E-8E03-3407584D4BF1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96114-3DF8-4792-9E07-2939339DCE0A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C48F1-1319-4E83-9B16-A2E5AE18C494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kern="1200"/>
            <a:t>• Audio upload </a:t>
          </a:r>
          <a:endParaRPr lang="en-US" sz="1400" kern="1200"/>
        </a:p>
      </dsp:txBody>
      <dsp:txXfrm>
        <a:off x="5439131" y="2644614"/>
        <a:ext cx="2072362" cy="720000"/>
      </dsp:txXfrm>
    </dsp:sp>
    <dsp:sp modelId="{DF39C5AA-507E-44F8-99C4-BB8EC5B807C1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4C404-12DE-48A7-86BC-711E58FD06ED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B1EDC-956F-4006-BF40-841784C2F099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400" kern="1200"/>
            <a:t>• Results with metadata, genre badges, similarity scores</a:t>
          </a:r>
          <a:endParaRPr lang="en-US" sz="1400" kern="1200"/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2261B-386A-C647-2D01-F02986FAB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C6140C-BBAC-C32A-F484-B07DFC627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3130D2-A5E4-4573-9036-6B3657158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03FF89-7F97-F96D-B23C-1E9B912A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540CB9-AFA2-A2BB-3895-551A2932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69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33593-1E12-104F-4079-02DE155D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8ADC99-35A1-FE1C-DA61-AFB1EE6FC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0C107-B36D-7D59-9BF3-B1DE4DDB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8A3615-AC9E-1E49-3B90-D62081D4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A56E6D-B0F3-621A-8A97-F7172782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35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AE0AF-6EB6-61A1-589D-D662AFB0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3E0E4-BA85-CD0C-062F-8282962DF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839F84-EFC8-BF6C-327A-DDF5320F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C45BBE-72E6-4D91-98E4-78228710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01528E-3F19-AFCE-10BC-9A0AE3C5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45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E6516-A49A-D228-576A-15CEF90A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09953-4768-903F-D5E3-E086F6B6C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0C9924-A39F-D037-DA96-90CC6BCC3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E5004E-104C-568A-1C30-F3342AF6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650E03-CD95-DD0C-8D25-723BF9EC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1ECDD3-F611-7C19-20B9-A5AA9D5A3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2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82223-974F-E403-B847-7A64B280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7F3515-50F8-CC23-BA30-EEB2FF9E7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E95934-9F61-2628-4684-FBC403A3F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91C311-FC1E-C6CB-5D32-CF875A486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CA4DA0-D32F-17CF-4372-EB4506EB9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264C35-511F-B7AC-6A5C-7FC960F9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AF7FB3-BE59-ED6A-4F67-8B907072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D4A1C6-E8BB-C555-49C7-202579FF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66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91CF7-6190-8A19-3ECB-6018CEDC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F0A667-0EA3-C4BC-DF6A-F4F5D2F8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DABBC8-0CFF-09BB-1BEE-46F2F310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230E71-5F38-FECB-850E-708E948E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62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8C74F6-2599-C69A-A0DD-3442F559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497188-19D4-A73A-65E6-A67553E5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6F60A6-DD0A-3DEE-C3E7-0F834A82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71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21B2AF-880F-2356-0CBE-33DFD230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6B709-E96F-6DDD-27FC-8F4E21F93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D2D5CE-2589-7D0B-2952-4F1D5EE0F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87E147-B61D-E31E-57A1-B0FDDCBD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EFE946-51D6-FBA3-3068-83003D1A8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C8359A-153A-1715-E388-DC2EB175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44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F5380-3FB6-CCE2-0435-F570C36A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183736-DA7F-2F33-08FA-7E58E0F09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244DDE-3171-19D5-BB4A-EC556B3A2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FD0F8C-4B5F-A839-5FFA-539D63AA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5B6D85-77B0-62D8-0CD3-59637AF8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7A4AD1-4904-0437-F43B-344AE3EA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689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668B3-075C-AFB0-ECD5-C9183A8E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7CF5D4-9AF7-03B4-32EE-4C187C405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E7344-4C93-A52E-619A-8F508F44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4A48AE-7778-1AD3-AF69-0277AAC9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DAE73-4E8E-6733-EF2D-B9178813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65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57DC38-7F23-5646-9F86-F06EB2E69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FA74B9-7D3B-716B-0C1F-F0BA1083D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41325-53FF-D796-FE26-4D8CB5543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4B3ADC-9ECE-E04B-5A69-B61032F4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A24BE-AE15-4DF5-98AE-5578B41F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34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1953B-B3FF-880A-E5A9-40056FF5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A8574-9CEF-2226-94E1-D5AFAED6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58B3ED-CA18-2CD1-A870-D038D7335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F79C-81A2-4367-B818-B1535D928D95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544FFC-F230-63F1-96C3-06C843F22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859838-18A2-3135-2102-83DDDBEF1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C5F5A-6C83-4A55-8C09-413B67D2B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79771-8AA5-296B-0BEA-9DBA80947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2900"/>
              <a:t>AURA</a:t>
            </a:r>
            <a:br>
              <a:rPr lang="en-US" sz="2900"/>
            </a:br>
            <a:r>
              <a:rPr lang="en-US" sz="2900"/>
              <a:t>Mood‑Based Music Discovery</a:t>
            </a:r>
            <a:br>
              <a:rPr lang="en-US" sz="2900"/>
            </a:br>
            <a:r>
              <a:rPr lang="en-US" sz="2900" err="1"/>
              <a:t>Krupenikova</a:t>
            </a:r>
            <a:r>
              <a:rPr lang="en-US" sz="2900"/>
              <a:t> Polina</a:t>
            </a:r>
            <a:br>
              <a:rPr lang="en-US" sz="2900"/>
            </a:br>
            <a:br>
              <a:rPr lang="en-US" sz="2900"/>
            </a:br>
            <a:r>
              <a:rPr lang="en-US" sz="2900" err="1"/>
              <a:t>Innopolis</a:t>
            </a:r>
            <a:r>
              <a:rPr lang="en-US" sz="2900"/>
              <a:t> University</a:t>
            </a:r>
            <a:br>
              <a:rPr lang="en-US" sz="2900"/>
            </a:br>
            <a:r>
              <a:rPr lang="en-US" sz="2900"/>
              <a:t>Summer 2026</a:t>
            </a:r>
            <a:endParaRPr lang="ru-RU" sz="2900"/>
          </a:p>
        </p:txBody>
      </p:sp>
    </p:spTree>
    <p:extLst>
      <p:ext uri="{BB962C8B-B14F-4D97-AF65-F5344CB8AC3E}">
        <p14:creationId xmlns:p14="http://schemas.microsoft.com/office/powerpoint/2010/main" val="266246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7388C-3C93-ED08-B0E0-F036E359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AURA?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A0C08A-7229-5532-F6F2-30F43972A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/>
              <a:t>Problem:</a:t>
            </a:r>
          </a:p>
          <a:p>
            <a:pPr marL="0" indent="0">
              <a:buNone/>
            </a:pPr>
            <a:r>
              <a:rPr lang="en-US" sz="2400"/>
              <a:t>• Music discovery is limited to </a:t>
            </a:r>
            <a:r>
              <a:rPr lang="en-US" sz="2400" b="1"/>
              <a:t>metadata</a:t>
            </a:r>
          </a:p>
          <a:p>
            <a:pPr marL="0" indent="0">
              <a:buNone/>
            </a:pPr>
            <a:r>
              <a:rPr lang="en-US" sz="2400"/>
              <a:t>• Users want to find music that "feels" a certain way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Solution:</a:t>
            </a:r>
          </a:p>
          <a:p>
            <a:pPr marL="0" indent="0">
              <a:buNone/>
            </a:pPr>
            <a:r>
              <a:rPr lang="en-US" sz="2400"/>
              <a:t>• Search by </a:t>
            </a:r>
            <a:r>
              <a:rPr lang="en-US" sz="2400" b="1"/>
              <a:t>vibe</a:t>
            </a:r>
            <a:r>
              <a:rPr lang="en-US" sz="2400"/>
              <a:t> – emotional and acoustic character</a:t>
            </a:r>
          </a:p>
          <a:p>
            <a:pPr marL="0" indent="0">
              <a:buNone/>
            </a:pPr>
            <a:r>
              <a:rPr lang="en-US" sz="2400"/>
              <a:t>• Query by text description or audio clip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Who Needs It?</a:t>
            </a:r>
          </a:p>
          <a:p>
            <a:pPr marL="0" indent="0">
              <a:buNone/>
            </a:pPr>
            <a:r>
              <a:rPr lang="en-US" sz="2400"/>
              <a:t>• DJs &amp; Producers • Music Therapists </a:t>
            </a:r>
          </a:p>
          <a:p>
            <a:pPr marL="0" indent="0">
              <a:buNone/>
            </a:pPr>
            <a:r>
              <a:rPr lang="en-US" sz="2400"/>
              <a:t>• Game/Film Designers • Casual Listeners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173961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C9587-115C-5CAD-5724-268D9940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Architecture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C2F6EC30-BD9D-CF60-0D50-35E2925E0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Key Technologies:</a:t>
            </a:r>
          </a:p>
          <a:p>
            <a:pPr marL="0" indent="0">
              <a:buNone/>
            </a:pPr>
            <a:r>
              <a:rPr lang="en-US" sz="1800" dirty="0"/>
              <a:t>• MERT: State-of-the-art music audio </a:t>
            </a:r>
          </a:p>
          <a:p>
            <a:pPr marL="0" indent="0">
              <a:buNone/>
            </a:pPr>
            <a:r>
              <a:rPr lang="en-US" sz="1800" dirty="0"/>
              <a:t>model</a:t>
            </a:r>
          </a:p>
          <a:p>
            <a:pPr marL="0" indent="0">
              <a:buNone/>
            </a:pPr>
            <a:r>
              <a:rPr lang="en-US" sz="1800" dirty="0"/>
              <a:t>• CLAP: Multimodal text-audio </a:t>
            </a:r>
          </a:p>
          <a:p>
            <a:pPr marL="0" indent="0">
              <a:buNone/>
            </a:pPr>
            <a:r>
              <a:rPr lang="en-US" sz="1800" dirty="0"/>
              <a:t>embeddings</a:t>
            </a:r>
          </a:p>
          <a:p>
            <a:pPr marL="0" indent="0">
              <a:buNone/>
            </a:pPr>
            <a:r>
              <a:rPr lang="en-US" sz="1800" dirty="0"/>
              <a:t>• FAISS/Milvus: Efficient vector search</a:t>
            </a:r>
          </a:p>
          <a:p>
            <a:pPr marL="0" indent="0">
              <a:buNone/>
            </a:pPr>
            <a:r>
              <a:rPr lang="en-US" sz="1800" dirty="0"/>
              <a:t>• PCA + Quantization: Memory/speed </a:t>
            </a:r>
          </a:p>
          <a:p>
            <a:pPr marL="0" indent="0">
              <a:buNone/>
            </a:pPr>
            <a:r>
              <a:rPr lang="en-US" sz="1800" dirty="0"/>
              <a:t>optimization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7A331D-91DE-09E6-9336-572F5B0A2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855" y="901032"/>
            <a:ext cx="2532528" cy="511622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84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434EC-9E23-C973-5CD3-46B7E6EC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6DE6E-F699-5617-9F1F-3749477DA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772" y="1127760"/>
            <a:ext cx="2224024" cy="25466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2400" dirty="0"/>
              <a:t>FMA (Free Music Archive)</a:t>
            </a:r>
          </a:p>
          <a:p>
            <a:pPr marL="0" indent="0">
              <a:buNone/>
            </a:pPr>
            <a:r>
              <a:rPr lang="en-US" sz="2400" dirty="0"/>
              <a:t>• 25,000 tracks</a:t>
            </a:r>
          </a:p>
          <a:p>
            <a:pPr marL="0" indent="0">
              <a:buNone/>
            </a:pPr>
            <a:r>
              <a:rPr lang="en-US" sz="2400" dirty="0"/>
              <a:t>• 150,000 chunks (10‑second segments)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BAD44-41A5-E0EF-C843-6D0D32E09D76}"/>
              </a:ext>
            </a:extLst>
          </p:cNvPr>
          <p:cNvSpPr txBox="1"/>
          <p:nvPr/>
        </p:nvSpPr>
        <p:spPr>
          <a:xfrm>
            <a:off x="6622734" y="3826764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Why These Datasets?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Large-scale, diverse, freely available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Natural ground truth (genre labels)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• Challenging acoustic 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629E1-17C2-935A-28C2-D50B0264302B}"/>
              </a:ext>
            </a:extLst>
          </p:cNvPr>
          <p:cNvSpPr txBox="1"/>
          <p:nvPr/>
        </p:nvSpPr>
        <p:spPr>
          <a:xfrm>
            <a:off x="9736934" y="1127760"/>
            <a:ext cx="180938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GTZAN (Validation)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• 1,000 tracks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• 10 genres</a:t>
            </a:r>
          </a:p>
        </p:txBody>
      </p:sp>
    </p:spTree>
    <p:extLst>
      <p:ext uri="{BB962C8B-B14F-4D97-AF65-F5344CB8AC3E}">
        <p14:creationId xmlns:p14="http://schemas.microsoft.com/office/powerpoint/2010/main" val="56595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AF47D-15F7-D626-B4C7-F0374409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Experimental Iterations</a:t>
            </a:r>
            <a:endParaRPr lang="ru-RU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356BE-5CB8-53E6-30A5-B0857E3FD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Iteration 1: Baseline using full MERT embeddings with FAISS-HNSW</a:t>
            </a:r>
          </a:p>
          <a:p>
            <a:pPr marL="0" indent="0">
              <a:buNone/>
            </a:pPr>
            <a:r>
              <a:rPr lang="en-US" sz="2200" dirty="0"/>
              <a:t>Iteration 2: Optimized with PCA, quantization, and Milvus-IVF-PQ</a:t>
            </a:r>
          </a:p>
          <a:p>
            <a:pPr marL="0" indent="0">
              <a:buNone/>
            </a:pPr>
            <a:r>
              <a:rPr lang="en-US" sz="2200" dirty="0"/>
              <a:t>Iteration 3: Multimodal text‑to‑audio search using CLAP</a:t>
            </a:r>
            <a:endParaRPr lang="ru-RU" sz="2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CD42C77-4545-2B52-4BA0-23A8B2D82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65625"/>
              </p:ext>
            </p:extLst>
          </p:nvPr>
        </p:nvGraphicFramePr>
        <p:xfrm>
          <a:off x="6099048" y="2582343"/>
          <a:ext cx="5458971" cy="169331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801240731"/>
                    </a:ext>
                  </a:extLst>
                </a:gridCol>
                <a:gridCol w="1185238">
                  <a:extLst>
                    <a:ext uri="{9D8B030D-6E8A-4147-A177-3AD203B41FA5}">
                      <a16:colId xmlns:a16="http://schemas.microsoft.com/office/drawing/2014/main" val="3136829331"/>
                    </a:ext>
                  </a:extLst>
                </a:gridCol>
                <a:gridCol w="657121">
                  <a:extLst>
                    <a:ext uri="{9D8B030D-6E8A-4147-A177-3AD203B41FA5}">
                      <a16:colId xmlns:a16="http://schemas.microsoft.com/office/drawing/2014/main" val="1417736999"/>
                    </a:ext>
                  </a:extLst>
                </a:gridCol>
                <a:gridCol w="459876">
                  <a:extLst>
                    <a:ext uri="{9D8B030D-6E8A-4147-A177-3AD203B41FA5}">
                      <a16:colId xmlns:a16="http://schemas.microsoft.com/office/drawing/2014/main" val="4065457079"/>
                    </a:ext>
                  </a:extLst>
                </a:gridCol>
                <a:gridCol w="891774">
                  <a:extLst>
                    <a:ext uri="{9D8B030D-6E8A-4147-A177-3AD203B41FA5}">
                      <a16:colId xmlns:a16="http://schemas.microsoft.com/office/drawing/2014/main" val="3062504650"/>
                    </a:ext>
                  </a:extLst>
                </a:gridCol>
                <a:gridCol w="502952">
                  <a:extLst>
                    <a:ext uri="{9D8B030D-6E8A-4147-A177-3AD203B41FA5}">
                      <a16:colId xmlns:a16="http://schemas.microsoft.com/office/drawing/2014/main" val="841482027"/>
                    </a:ext>
                  </a:extLst>
                </a:gridCol>
                <a:gridCol w="691128">
                  <a:extLst>
                    <a:ext uri="{9D8B030D-6E8A-4147-A177-3AD203B41FA5}">
                      <a16:colId xmlns:a16="http://schemas.microsoft.com/office/drawing/2014/main" val="2974972772"/>
                    </a:ext>
                  </a:extLst>
                </a:gridCol>
              </a:tblGrid>
              <a:tr h="309063"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Iteration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Dim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Recall@10 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QPS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cap="none" spc="0">
                          <a:solidFill>
                            <a:schemeClr val="bg1"/>
                          </a:solidFill>
                        </a:rPr>
                        <a:t>Memory</a:t>
                      </a:r>
                      <a:endParaRPr lang="ru-RU" sz="10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84883" marR="65295" marT="65295" marB="652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962109"/>
                  </a:ext>
                </a:extLst>
              </a:tr>
              <a:tr h="461417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 (Baseline)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MERT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FAISS-HNSW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768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450 MB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183313"/>
                  </a:ext>
                </a:extLst>
              </a:tr>
              <a:tr h="461417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 (Optimized)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err="1">
                          <a:solidFill>
                            <a:schemeClr val="tx1"/>
                          </a:solidFill>
                        </a:rPr>
                        <a:t>MERT+PCA+Quant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Milvus-IVF-PQ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210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85 MB 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36716"/>
                  </a:ext>
                </a:extLst>
              </a:tr>
              <a:tr h="461417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 (Multimodal) 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CLAP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Milvus-IVF-PQ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512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0.68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110 MB </a:t>
                      </a:r>
                      <a:endParaRPr lang="ru-RU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4883" marR="65295" marT="65295" marB="6529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2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71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22417-39AE-1640-FA52-FA8F8F5B2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- Accuracy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2D0B4-3983-995A-850B-C55456FD3EDA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Key Finding: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Optimized system preserves 94% of baseline accuracy (0.92 → 0.87)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672E35-0782-4CBD-712A-6541A406C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2064257"/>
            <a:ext cx="5458968" cy="27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5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FFE08-F4F6-C146-55D6-1FC70885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1B2AA-C26C-CEE8-10C7-80E42370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Speed and Memory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72B4DB-AF63-55F6-AAFC-56CE45A8C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848" y="1818226"/>
            <a:ext cx="5653706" cy="452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2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B93E3-E512-52D7-C9B6-4B60837A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Results – Speed and Memory</a:t>
            </a:r>
            <a:endParaRPr lang="ru-RU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DE1D2F-C9E1-15DE-0C24-126D0B8C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endParaRPr lang="en-US" sz="2200"/>
          </a:p>
          <a:p>
            <a:pPr marL="0" indent="0">
              <a:buNone/>
            </a:pPr>
            <a:r>
              <a:rPr lang="en-US" sz="2200"/>
              <a:t>Key Results:</a:t>
            </a:r>
          </a:p>
          <a:p>
            <a:pPr marL="0" indent="0">
              <a:buNone/>
            </a:pPr>
            <a:r>
              <a:rPr lang="en-US" sz="2200"/>
              <a:t>• 6× Speedup (35 → 210 QPS)</a:t>
            </a:r>
          </a:p>
          <a:p>
            <a:pPr marL="0" indent="0">
              <a:buNone/>
            </a:pPr>
            <a:r>
              <a:rPr lang="en-US" sz="2200"/>
              <a:t>• 81% Memory Reduction (450 → 85 MB)</a:t>
            </a:r>
          </a:p>
          <a:p>
            <a:pPr marL="0" indent="0">
              <a:buNone/>
            </a:pPr>
            <a:r>
              <a:rPr lang="en-US" sz="2200"/>
              <a:t>• Only 5% Accuracy Loss</a:t>
            </a:r>
            <a:endParaRPr lang="ru-RU" sz="22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273FEB-A8CC-692E-5237-4318ACF5C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2064257"/>
            <a:ext cx="5458968" cy="27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6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1BC90-729F-04C3-9ACD-A7AFF627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dirty="0"/>
              <a:t>Overall Performance</a:t>
            </a:r>
            <a:endParaRPr lang="ru-RU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F9430-131A-FFB0-0AD3-B83ECC289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Summary:</a:t>
            </a:r>
          </a:p>
          <a:p>
            <a:pPr marL="0" indent="0">
              <a:buNone/>
            </a:pPr>
            <a:r>
              <a:rPr lang="en-US" sz="2200" dirty="0"/>
              <a:t>• Iteration 2 offers the best balance</a:t>
            </a:r>
          </a:p>
          <a:p>
            <a:pPr marL="0" indent="0">
              <a:buNone/>
            </a:pPr>
            <a:r>
              <a:rPr lang="en-US" sz="2200" dirty="0"/>
              <a:t>• Production-ready: runs on CPU with &lt; 100 MB RAM</a:t>
            </a:r>
          </a:p>
          <a:p>
            <a:pPr marL="0" indent="0">
              <a:buNone/>
            </a:pPr>
            <a:r>
              <a:rPr lang="en-US" sz="2200" dirty="0"/>
              <a:t>• Scalable to </a:t>
            </a:r>
            <a:r>
              <a:rPr lang="en-US" sz="2200" dirty="0" err="1"/>
              <a:t>milions</a:t>
            </a:r>
            <a:r>
              <a:rPr lang="en-US" sz="2200" dirty="0"/>
              <a:t> of tracks via Milvus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E7220E-F0C5-BCDE-28EB-A7CD3B147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890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85621-BD78-F590-DE35-3430B520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Live demo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4CFB616-7C59-A0C3-35B2-7B29BA59D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18190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3653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mo_video">
            <a:hlinkClick r:id="" action="ppaction://media"/>
            <a:extLst>
              <a:ext uri="{FF2B5EF4-FFF2-40B4-BE49-F238E27FC236}">
                <a16:creationId xmlns:a16="http://schemas.microsoft.com/office/drawing/2014/main" id="{90181A00-6755-D24C-8190-5030178B05E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0689" y="973882"/>
            <a:ext cx="11330622" cy="4910236"/>
          </a:xfrm>
        </p:spPr>
      </p:pic>
    </p:spTree>
    <p:extLst>
      <p:ext uri="{BB962C8B-B14F-4D97-AF65-F5344CB8AC3E}">
        <p14:creationId xmlns:p14="http://schemas.microsoft.com/office/powerpoint/2010/main" val="36228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0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8099E-841F-34C3-1BE5-8A7CDF21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Takeaways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1E47F0-8A58-4EF6-7050-A7A88F34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1. PCA + Quantization is highly effective</a:t>
            </a:r>
          </a:p>
          <a:p>
            <a:pPr marL="0" indent="0">
              <a:buNone/>
            </a:pPr>
            <a:r>
              <a:rPr lang="en-US" sz="1800" dirty="0"/>
              <a:t>   • 94% accuracy preserved</a:t>
            </a:r>
          </a:p>
          <a:p>
            <a:pPr marL="0" indent="0">
              <a:buNone/>
            </a:pPr>
            <a:r>
              <a:rPr lang="en-US" sz="1800" dirty="0"/>
              <a:t>   • 6× speedup</a:t>
            </a:r>
          </a:p>
          <a:p>
            <a:pPr marL="0" indent="0">
              <a:buNone/>
            </a:pPr>
            <a:r>
              <a:rPr lang="en-US" sz="1800" dirty="0"/>
              <a:t>   • 81% memory reduction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2. IVF-PQ indexing provides excellent memory-speed trade-off</a:t>
            </a:r>
          </a:p>
          <a:p>
            <a:pPr marL="0" indent="0">
              <a:buNone/>
            </a:pPr>
            <a:r>
              <a:rPr lang="en-US" sz="1800" dirty="0"/>
              <a:t>   • Ideal for large-scale deployments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57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398</Words>
  <Application>Microsoft Office PowerPoint</Application>
  <PresentationFormat>Широкоэкранный</PresentationFormat>
  <Paragraphs>99</Paragraphs>
  <Slides>12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AURA Mood‑Based Music Discovery Krupenikova Polina  Innopolis University Summer 2026</vt:lpstr>
      <vt:lpstr>Why AURA?</vt:lpstr>
      <vt:lpstr>Architecture</vt:lpstr>
      <vt:lpstr>Dataset</vt:lpstr>
      <vt:lpstr>Experimental Iterations</vt:lpstr>
      <vt:lpstr>Results - Accuracy</vt:lpstr>
      <vt:lpstr>Results – Speed and Memory</vt:lpstr>
      <vt:lpstr>Results – Speed and Memory</vt:lpstr>
      <vt:lpstr>Overall Performance</vt:lpstr>
      <vt:lpstr>Live demo</vt:lpstr>
      <vt:lpstr>Презентация PowerPoint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Крупеникова</dc:creator>
  <cp:lastModifiedBy>Полина Крупеникова</cp:lastModifiedBy>
  <cp:revision>2</cp:revision>
  <dcterms:created xsi:type="dcterms:W3CDTF">2026-07-14T17:08:22Z</dcterms:created>
  <dcterms:modified xsi:type="dcterms:W3CDTF">2026-07-16T05:13:05Z</dcterms:modified>
</cp:coreProperties>
</file>