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F5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974" y="1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image" Target="../media/image6.svg"/><Relationship Id="rId4" Type="http://schemas.openxmlformats.org/officeDocument/2006/relationships/image" Target="../media/image9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image" Target="../media/image6.svg"/><Relationship Id="rId4" Type="http://schemas.openxmlformats.org/officeDocument/2006/relationships/image" Target="../media/image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7E4D865-DD9D-464D-8790-479C20A64549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50AC97A7-91BD-4380-BADA-332CEEF317D5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ru-RU"/>
            <a:t>• Text descriptions</a:t>
          </a:r>
          <a:endParaRPr lang="en-US"/>
        </a:p>
      </dgm:t>
    </dgm:pt>
    <dgm:pt modelId="{CE704E57-2D53-40E8-81C2-656F14DB568D}" type="parTrans" cxnId="{F65DE0E4-D666-4D25-BA49-73F90ECE78AE}">
      <dgm:prSet/>
      <dgm:spPr/>
      <dgm:t>
        <a:bodyPr/>
        <a:lstStyle/>
        <a:p>
          <a:endParaRPr lang="en-US"/>
        </a:p>
      </dgm:t>
    </dgm:pt>
    <dgm:pt modelId="{9D449997-B83F-48AA-AA91-4E5A25D4B6DC}" type="sibTrans" cxnId="{F65DE0E4-D666-4D25-BA49-73F90ECE78AE}">
      <dgm:prSet/>
      <dgm:spPr/>
      <dgm:t>
        <a:bodyPr/>
        <a:lstStyle/>
        <a:p>
          <a:endParaRPr lang="en-US"/>
        </a:p>
      </dgm:t>
    </dgm:pt>
    <dgm:pt modelId="{789F52B2-7BAE-4BB3-8CD0-168AC5921AFD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ru-RU"/>
            <a:t>• Sample queries</a:t>
          </a:r>
          <a:endParaRPr lang="en-US"/>
        </a:p>
      </dgm:t>
    </dgm:pt>
    <dgm:pt modelId="{FFB08B11-AD33-4E1A-A23E-F707BCF552A9}" type="parTrans" cxnId="{9A9632A9-832C-455C-B18B-654003F80919}">
      <dgm:prSet/>
      <dgm:spPr/>
      <dgm:t>
        <a:bodyPr/>
        <a:lstStyle/>
        <a:p>
          <a:endParaRPr lang="en-US"/>
        </a:p>
      </dgm:t>
    </dgm:pt>
    <dgm:pt modelId="{1DC305B5-B7E9-4999-9B1A-DFA4B1422638}" type="sibTrans" cxnId="{9A9632A9-832C-455C-B18B-654003F80919}">
      <dgm:prSet/>
      <dgm:spPr/>
      <dgm:t>
        <a:bodyPr/>
        <a:lstStyle/>
        <a:p>
          <a:endParaRPr lang="en-US"/>
        </a:p>
      </dgm:t>
    </dgm:pt>
    <dgm:pt modelId="{E6A28C02-EF38-42BF-AB43-8D82A184B7E9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ru-RU"/>
            <a:t>• Audio upload </a:t>
          </a:r>
          <a:endParaRPr lang="en-US"/>
        </a:p>
      </dgm:t>
    </dgm:pt>
    <dgm:pt modelId="{B2E88AFD-5627-40FC-808E-4A2098D26E75}" type="parTrans" cxnId="{C5321413-5BA4-470E-9A5A-974A0E94E50D}">
      <dgm:prSet/>
      <dgm:spPr/>
      <dgm:t>
        <a:bodyPr/>
        <a:lstStyle/>
        <a:p>
          <a:endParaRPr lang="en-US"/>
        </a:p>
      </dgm:t>
    </dgm:pt>
    <dgm:pt modelId="{3CB0E06E-D0EB-4AEC-B69D-73DF4FE0B0C5}" type="sibTrans" cxnId="{C5321413-5BA4-470E-9A5A-974A0E94E50D}">
      <dgm:prSet/>
      <dgm:spPr/>
      <dgm:t>
        <a:bodyPr/>
        <a:lstStyle/>
        <a:p>
          <a:endParaRPr lang="en-US"/>
        </a:p>
      </dgm:t>
    </dgm:pt>
    <dgm:pt modelId="{930C0B99-7F08-4557-B909-9E5810D5098E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ru-RU"/>
            <a:t>• Results with metadata, genre badges, similarity scores</a:t>
          </a:r>
          <a:endParaRPr lang="en-US"/>
        </a:p>
      </dgm:t>
    </dgm:pt>
    <dgm:pt modelId="{B194B31E-8CEF-46B0-A36A-229370E5BD62}" type="parTrans" cxnId="{0F06621B-C5BF-44B4-8432-D54772A8537E}">
      <dgm:prSet/>
      <dgm:spPr/>
      <dgm:t>
        <a:bodyPr/>
        <a:lstStyle/>
        <a:p>
          <a:endParaRPr lang="en-US"/>
        </a:p>
      </dgm:t>
    </dgm:pt>
    <dgm:pt modelId="{3AEE974E-A2F3-47CC-A956-AA175023A0FB}" type="sibTrans" cxnId="{0F06621B-C5BF-44B4-8432-D54772A8537E}">
      <dgm:prSet/>
      <dgm:spPr/>
      <dgm:t>
        <a:bodyPr/>
        <a:lstStyle/>
        <a:p>
          <a:endParaRPr lang="en-US"/>
        </a:p>
      </dgm:t>
    </dgm:pt>
    <dgm:pt modelId="{61C030CB-3E17-4928-B82A-FCC7B795FB94}" type="pres">
      <dgm:prSet presAssocID="{27E4D865-DD9D-464D-8790-479C20A64549}" presName="root" presStyleCnt="0">
        <dgm:presLayoutVars>
          <dgm:dir/>
          <dgm:resizeHandles val="exact"/>
        </dgm:presLayoutVars>
      </dgm:prSet>
      <dgm:spPr/>
    </dgm:pt>
    <dgm:pt modelId="{A0605764-E645-4E7F-B69E-AEA3315B9816}" type="pres">
      <dgm:prSet presAssocID="{50AC97A7-91BD-4380-BADA-332CEEF317D5}" presName="compNode" presStyleCnt="0"/>
      <dgm:spPr/>
    </dgm:pt>
    <dgm:pt modelId="{212FCB0D-EF3F-4609-BB06-FF905F1BA8B5}" type="pres">
      <dgm:prSet presAssocID="{50AC97A7-91BD-4380-BADA-332CEEF317D5}" presName="iconBgRect" presStyleLbl="bgShp" presStyleIdx="0" presStyleCnt="4"/>
      <dgm:spPr/>
    </dgm:pt>
    <dgm:pt modelId="{F9F6AB67-8A6E-42E4-BDF0-4221DACDD1D3}" type="pres">
      <dgm:prSet presAssocID="{50AC97A7-91BD-4380-BADA-332CEEF317D5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Документ"/>
        </a:ext>
      </dgm:extLst>
    </dgm:pt>
    <dgm:pt modelId="{F399DDCD-CD20-424C-8AA0-8C3354C2219A}" type="pres">
      <dgm:prSet presAssocID="{50AC97A7-91BD-4380-BADA-332CEEF317D5}" presName="spaceRect" presStyleCnt="0"/>
      <dgm:spPr/>
    </dgm:pt>
    <dgm:pt modelId="{DF9529ED-3FDD-49C9-8911-804870C632ED}" type="pres">
      <dgm:prSet presAssocID="{50AC97A7-91BD-4380-BADA-332CEEF317D5}" presName="textRect" presStyleLbl="revTx" presStyleIdx="0" presStyleCnt="4">
        <dgm:presLayoutVars>
          <dgm:chMax val="1"/>
          <dgm:chPref val="1"/>
        </dgm:presLayoutVars>
      </dgm:prSet>
      <dgm:spPr/>
    </dgm:pt>
    <dgm:pt modelId="{867B96A0-18EF-4A77-87AE-E4CB88A4573B}" type="pres">
      <dgm:prSet presAssocID="{9D449997-B83F-48AA-AA91-4E5A25D4B6DC}" presName="sibTrans" presStyleCnt="0"/>
      <dgm:spPr/>
    </dgm:pt>
    <dgm:pt modelId="{2EBFAEEA-2312-47D1-8FE4-CEF93DF2834E}" type="pres">
      <dgm:prSet presAssocID="{789F52B2-7BAE-4BB3-8CD0-168AC5921AFD}" presName="compNode" presStyleCnt="0"/>
      <dgm:spPr/>
    </dgm:pt>
    <dgm:pt modelId="{BA3674A1-7E54-4D24-A153-4B89DCCD8A3B}" type="pres">
      <dgm:prSet presAssocID="{789F52B2-7BAE-4BB3-8CD0-168AC5921AFD}" presName="iconBgRect" presStyleLbl="bgShp" presStyleIdx="1" presStyleCnt="4"/>
      <dgm:spPr/>
    </dgm:pt>
    <dgm:pt modelId="{EB21E6BD-D185-4B53-AD49-D6247AF72C74}" type="pres">
      <dgm:prSet presAssocID="{789F52B2-7BAE-4BB3-8CD0-168AC5921AFD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lp"/>
        </a:ext>
      </dgm:extLst>
    </dgm:pt>
    <dgm:pt modelId="{89DC5508-3F4D-4682-BF32-5586E45AEE24}" type="pres">
      <dgm:prSet presAssocID="{789F52B2-7BAE-4BB3-8CD0-168AC5921AFD}" presName="spaceRect" presStyleCnt="0"/>
      <dgm:spPr/>
    </dgm:pt>
    <dgm:pt modelId="{6683C531-DCF4-4B63-85CD-F6D4C7FAD407}" type="pres">
      <dgm:prSet presAssocID="{789F52B2-7BAE-4BB3-8CD0-168AC5921AFD}" presName="textRect" presStyleLbl="revTx" presStyleIdx="1" presStyleCnt="4">
        <dgm:presLayoutVars>
          <dgm:chMax val="1"/>
          <dgm:chPref val="1"/>
        </dgm:presLayoutVars>
      </dgm:prSet>
      <dgm:spPr/>
    </dgm:pt>
    <dgm:pt modelId="{3D450B95-7E12-4972-88BC-C37FCFFA4BA8}" type="pres">
      <dgm:prSet presAssocID="{1DC305B5-B7E9-4999-9B1A-DFA4B1422638}" presName="sibTrans" presStyleCnt="0"/>
      <dgm:spPr/>
    </dgm:pt>
    <dgm:pt modelId="{60FC5300-C1D0-4E3E-A94B-805E9FE7C028}" type="pres">
      <dgm:prSet presAssocID="{E6A28C02-EF38-42BF-AB43-8D82A184B7E9}" presName="compNode" presStyleCnt="0"/>
      <dgm:spPr/>
    </dgm:pt>
    <dgm:pt modelId="{C9367336-D55B-479E-8E03-3407584D4BF1}" type="pres">
      <dgm:prSet presAssocID="{E6A28C02-EF38-42BF-AB43-8D82A184B7E9}" presName="iconBgRect" presStyleLbl="bgShp" presStyleIdx="2" presStyleCnt="4"/>
      <dgm:spPr/>
    </dgm:pt>
    <dgm:pt modelId="{CE296114-3DF8-4792-9E07-2939339DCE0A}" type="pres">
      <dgm:prSet presAssocID="{E6A28C02-EF38-42BF-AB43-8D82A184B7E9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Подкаст"/>
        </a:ext>
      </dgm:extLst>
    </dgm:pt>
    <dgm:pt modelId="{F1BE0FBE-D333-4091-A94B-BD57386100EA}" type="pres">
      <dgm:prSet presAssocID="{E6A28C02-EF38-42BF-AB43-8D82A184B7E9}" presName="spaceRect" presStyleCnt="0"/>
      <dgm:spPr/>
    </dgm:pt>
    <dgm:pt modelId="{40BC48F1-1319-4E83-9B16-A2E5AE18C494}" type="pres">
      <dgm:prSet presAssocID="{E6A28C02-EF38-42BF-AB43-8D82A184B7E9}" presName="textRect" presStyleLbl="revTx" presStyleIdx="2" presStyleCnt="4">
        <dgm:presLayoutVars>
          <dgm:chMax val="1"/>
          <dgm:chPref val="1"/>
        </dgm:presLayoutVars>
      </dgm:prSet>
      <dgm:spPr/>
    </dgm:pt>
    <dgm:pt modelId="{9388A221-1D79-4A24-AC4F-7072FB9432DD}" type="pres">
      <dgm:prSet presAssocID="{3CB0E06E-D0EB-4AEC-B69D-73DF4FE0B0C5}" presName="sibTrans" presStyleCnt="0"/>
      <dgm:spPr/>
    </dgm:pt>
    <dgm:pt modelId="{BABE4E6B-EE0B-486E-BF0C-24E078A50CA2}" type="pres">
      <dgm:prSet presAssocID="{930C0B99-7F08-4557-B909-9E5810D5098E}" presName="compNode" presStyleCnt="0"/>
      <dgm:spPr/>
    </dgm:pt>
    <dgm:pt modelId="{DF39C5AA-507E-44F8-99C4-BB8EC5B807C1}" type="pres">
      <dgm:prSet presAssocID="{930C0B99-7F08-4557-B909-9E5810D5098E}" presName="iconBgRect" presStyleLbl="bgShp" presStyleIdx="3" presStyleCnt="4"/>
      <dgm:spPr/>
    </dgm:pt>
    <dgm:pt modelId="{24B4C404-12DE-48A7-86BC-711E58FD06ED}" type="pres">
      <dgm:prSet presAssocID="{930C0B99-7F08-4557-B909-9E5810D5098E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Диплом"/>
        </a:ext>
      </dgm:extLst>
    </dgm:pt>
    <dgm:pt modelId="{E9A3F66C-FA26-44C8-85BF-D75A5D97954E}" type="pres">
      <dgm:prSet presAssocID="{930C0B99-7F08-4557-B909-9E5810D5098E}" presName="spaceRect" presStyleCnt="0"/>
      <dgm:spPr/>
    </dgm:pt>
    <dgm:pt modelId="{547B1EDC-956F-4006-BF40-841784C2F099}" type="pres">
      <dgm:prSet presAssocID="{930C0B99-7F08-4557-B909-9E5810D5098E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C5321413-5BA4-470E-9A5A-974A0E94E50D}" srcId="{27E4D865-DD9D-464D-8790-479C20A64549}" destId="{E6A28C02-EF38-42BF-AB43-8D82A184B7E9}" srcOrd="2" destOrd="0" parTransId="{B2E88AFD-5627-40FC-808E-4A2098D26E75}" sibTransId="{3CB0E06E-D0EB-4AEC-B69D-73DF4FE0B0C5}"/>
    <dgm:cxn modelId="{24BA9115-2672-4C04-AD03-04F15AF46FBD}" type="presOf" srcId="{50AC97A7-91BD-4380-BADA-332CEEF317D5}" destId="{DF9529ED-3FDD-49C9-8911-804870C632ED}" srcOrd="0" destOrd="0" presId="urn:microsoft.com/office/officeart/2018/5/layout/IconCircleLabelList"/>
    <dgm:cxn modelId="{3A82691A-F32B-4FA1-B7F3-F51220F48138}" type="presOf" srcId="{789F52B2-7BAE-4BB3-8CD0-168AC5921AFD}" destId="{6683C531-DCF4-4B63-85CD-F6D4C7FAD407}" srcOrd="0" destOrd="0" presId="urn:microsoft.com/office/officeart/2018/5/layout/IconCircleLabelList"/>
    <dgm:cxn modelId="{0F06621B-C5BF-44B4-8432-D54772A8537E}" srcId="{27E4D865-DD9D-464D-8790-479C20A64549}" destId="{930C0B99-7F08-4557-B909-9E5810D5098E}" srcOrd="3" destOrd="0" parTransId="{B194B31E-8CEF-46B0-A36A-229370E5BD62}" sibTransId="{3AEE974E-A2F3-47CC-A956-AA175023A0FB}"/>
    <dgm:cxn modelId="{09C8F76A-2B3E-4CEE-B044-30C09C5DE1F2}" type="presOf" srcId="{930C0B99-7F08-4557-B909-9E5810D5098E}" destId="{547B1EDC-956F-4006-BF40-841784C2F099}" srcOrd="0" destOrd="0" presId="urn:microsoft.com/office/officeart/2018/5/layout/IconCircleLabelList"/>
    <dgm:cxn modelId="{9A9632A9-832C-455C-B18B-654003F80919}" srcId="{27E4D865-DD9D-464D-8790-479C20A64549}" destId="{789F52B2-7BAE-4BB3-8CD0-168AC5921AFD}" srcOrd="1" destOrd="0" parTransId="{FFB08B11-AD33-4E1A-A23E-F707BCF552A9}" sibTransId="{1DC305B5-B7E9-4999-9B1A-DFA4B1422638}"/>
    <dgm:cxn modelId="{24F035B1-4CC5-436F-828B-DEA521B7D6A8}" type="presOf" srcId="{27E4D865-DD9D-464D-8790-479C20A64549}" destId="{61C030CB-3E17-4928-B82A-FCC7B795FB94}" srcOrd="0" destOrd="0" presId="urn:microsoft.com/office/officeart/2018/5/layout/IconCircleLabelList"/>
    <dgm:cxn modelId="{9DD977D1-0CC2-4643-B1F8-9F18AD183DDC}" type="presOf" srcId="{E6A28C02-EF38-42BF-AB43-8D82A184B7E9}" destId="{40BC48F1-1319-4E83-9B16-A2E5AE18C494}" srcOrd="0" destOrd="0" presId="urn:microsoft.com/office/officeart/2018/5/layout/IconCircleLabelList"/>
    <dgm:cxn modelId="{F65DE0E4-D666-4D25-BA49-73F90ECE78AE}" srcId="{27E4D865-DD9D-464D-8790-479C20A64549}" destId="{50AC97A7-91BD-4380-BADA-332CEEF317D5}" srcOrd="0" destOrd="0" parTransId="{CE704E57-2D53-40E8-81C2-656F14DB568D}" sibTransId="{9D449997-B83F-48AA-AA91-4E5A25D4B6DC}"/>
    <dgm:cxn modelId="{E489BACC-781B-4059-805D-4A206BA1E8D2}" type="presParOf" srcId="{61C030CB-3E17-4928-B82A-FCC7B795FB94}" destId="{A0605764-E645-4E7F-B69E-AEA3315B9816}" srcOrd="0" destOrd="0" presId="urn:microsoft.com/office/officeart/2018/5/layout/IconCircleLabelList"/>
    <dgm:cxn modelId="{901F9561-02D8-456F-86E7-4A7C6C1DAA03}" type="presParOf" srcId="{A0605764-E645-4E7F-B69E-AEA3315B9816}" destId="{212FCB0D-EF3F-4609-BB06-FF905F1BA8B5}" srcOrd="0" destOrd="0" presId="urn:microsoft.com/office/officeart/2018/5/layout/IconCircleLabelList"/>
    <dgm:cxn modelId="{0492C2D8-E69F-47CC-A536-99D6B304BA0C}" type="presParOf" srcId="{A0605764-E645-4E7F-B69E-AEA3315B9816}" destId="{F9F6AB67-8A6E-42E4-BDF0-4221DACDD1D3}" srcOrd="1" destOrd="0" presId="urn:microsoft.com/office/officeart/2018/5/layout/IconCircleLabelList"/>
    <dgm:cxn modelId="{2C07C375-EDB8-48D5-831F-12BA9E72EA58}" type="presParOf" srcId="{A0605764-E645-4E7F-B69E-AEA3315B9816}" destId="{F399DDCD-CD20-424C-8AA0-8C3354C2219A}" srcOrd="2" destOrd="0" presId="urn:microsoft.com/office/officeart/2018/5/layout/IconCircleLabelList"/>
    <dgm:cxn modelId="{2DB265D7-6A8A-48C9-A84E-1A572D0EE1D7}" type="presParOf" srcId="{A0605764-E645-4E7F-B69E-AEA3315B9816}" destId="{DF9529ED-3FDD-49C9-8911-804870C632ED}" srcOrd="3" destOrd="0" presId="urn:microsoft.com/office/officeart/2018/5/layout/IconCircleLabelList"/>
    <dgm:cxn modelId="{57C9ADEC-972C-4174-A83E-D025D7D0AE02}" type="presParOf" srcId="{61C030CB-3E17-4928-B82A-FCC7B795FB94}" destId="{867B96A0-18EF-4A77-87AE-E4CB88A4573B}" srcOrd="1" destOrd="0" presId="urn:microsoft.com/office/officeart/2018/5/layout/IconCircleLabelList"/>
    <dgm:cxn modelId="{69244392-D364-43E8-BE93-640B3D11B130}" type="presParOf" srcId="{61C030CB-3E17-4928-B82A-FCC7B795FB94}" destId="{2EBFAEEA-2312-47D1-8FE4-CEF93DF2834E}" srcOrd="2" destOrd="0" presId="urn:microsoft.com/office/officeart/2018/5/layout/IconCircleLabelList"/>
    <dgm:cxn modelId="{3C7E215B-90C3-416F-8E06-961B5560F225}" type="presParOf" srcId="{2EBFAEEA-2312-47D1-8FE4-CEF93DF2834E}" destId="{BA3674A1-7E54-4D24-A153-4B89DCCD8A3B}" srcOrd="0" destOrd="0" presId="urn:microsoft.com/office/officeart/2018/5/layout/IconCircleLabelList"/>
    <dgm:cxn modelId="{4AB241C2-DB35-4140-82F4-062AA2362FA0}" type="presParOf" srcId="{2EBFAEEA-2312-47D1-8FE4-CEF93DF2834E}" destId="{EB21E6BD-D185-4B53-AD49-D6247AF72C74}" srcOrd="1" destOrd="0" presId="urn:microsoft.com/office/officeart/2018/5/layout/IconCircleLabelList"/>
    <dgm:cxn modelId="{B69F1D28-7011-49CE-B789-4E5B3F348156}" type="presParOf" srcId="{2EBFAEEA-2312-47D1-8FE4-CEF93DF2834E}" destId="{89DC5508-3F4D-4682-BF32-5586E45AEE24}" srcOrd="2" destOrd="0" presId="urn:microsoft.com/office/officeart/2018/5/layout/IconCircleLabelList"/>
    <dgm:cxn modelId="{8D0699BC-BDDA-4D82-94BA-722BEF571BE5}" type="presParOf" srcId="{2EBFAEEA-2312-47D1-8FE4-CEF93DF2834E}" destId="{6683C531-DCF4-4B63-85CD-F6D4C7FAD407}" srcOrd="3" destOrd="0" presId="urn:microsoft.com/office/officeart/2018/5/layout/IconCircleLabelList"/>
    <dgm:cxn modelId="{5EF8F308-E38E-4E59-AEDC-81C27168F680}" type="presParOf" srcId="{61C030CB-3E17-4928-B82A-FCC7B795FB94}" destId="{3D450B95-7E12-4972-88BC-C37FCFFA4BA8}" srcOrd="3" destOrd="0" presId="urn:microsoft.com/office/officeart/2018/5/layout/IconCircleLabelList"/>
    <dgm:cxn modelId="{6B4584AA-DC06-4609-A47B-8E726A82623C}" type="presParOf" srcId="{61C030CB-3E17-4928-B82A-FCC7B795FB94}" destId="{60FC5300-C1D0-4E3E-A94B-805E9FE7C028}" srcOrd="4" destOrd="0" presId="urn:microsoft.com/office/officeart/2018/5/layout/IconCircleLabelList"/>
    <dgm:cxn modelId="{C3D0EDEC-6B3B-4310-A5BF-75A173B3B260}" type="presParOf" srcId="{60FC5300-C1D0-4E3E-A94B-805E9FE7C028}" destId="{C9367336-D55B-479E-8E03-3407584D4BF1}" srcOrd="0" destOrd="0" presId="urn:microsoft.com/office/officeart/2018/5/layout/IconCircleLabelList"/>
    <dgm:cxn modelId="{5789CB1C-4A29-48EA-A494-EAC11A7EBC05}" type="presParOf" srcId="{60FC5300-C1D0-4E3E-A94B-805E9FE7C028}" destId="{CE296114-3DF8-4792-9E07-2939339DCE0A}" srcOrd="1" destOrd="0" presId="urn:microsoft.com/office/officeart/2018/5/layout/IconCircleLabelList"/>
    <dgm:cxn modelId="{57900AE0-C8AB-490F-A028-8948BBC8D0FA}" type="presParOf" srcId="{60FC5300-C1D0-4E3E-A94B-805E9FE7C028}" destId="{F1BE0FBE-D333-4091-A94B-BD57386100EA}" srcOrd="2" destOrd="0" presId="urn:microsoft.com/office/officeart/2018/5/layout/IconCircleLabelList"/>
    <dgm:cxn modelId="{88C668A4-ADF3-43C5-AD4F-74F241D67317}" type="presParOf" srcId="{60FC5300-C1D0-4E3E-A94B-805E9FE7C028}" destId="{40BC48F1-1319-4E83-9B16-A2E5AE18C494}" srcOrd="3" destOrd="0" presId="urn:microsoft.com/office/officeart/2018/5/layout/IconCircleLabelList"/>
    <dgm:cxn modelId="{67FCE38F-8BBA-4674-8B00-4268BB006880}" type="presParOf" srcId="{61C030CB-3E17-4928-B82A-FCC7B795FB94}" destId="{9388A221-1D79-4A24-AC4F-7072FB9432DD}" srcOrd="5" destOrd="0" presId="urn:microsoft.com/office/officeart/2018/5/layout/IconCircleLabelList"/>
    <dgm:cxn modelId="{C83463DC-377C-43BE-9561-9B08D8B08368}" type="presParOf" srcId="{61C030CB-3E17-4928-B82A-FCC7B795FB94}" destId="{BABE4E6B-EE0B-486E-BF0C-24E078A50CA2}" srcOrd="6" destOrd="0" presId="urn:microsoft.com/office/officeart/2018/5/layout/IconCircleLabelList"/>
    <dgm:cxn modelId="{C1B8528E-0D51-449A-AC8C-94052E85877A}" type="presParOf" srcId="{BABE4E6B-EE0B-486E-BF0C-24E078A50CA2}" destId="{DF39C5AA-507E-44F8-99C4-BB8EC5B807C1}" srcOrd="0" destOrd="0" presId="urn:microsoft.com/office/officeart/2018/5/layout/IconCircleLabelList"/>
    <dgm:cxn modelId="{368E84D8-5ED9-4EFA-842C-20CA8493F157}" type="presParOf" srcId="{BABE4E6B-EE0B-486E-BF0C-24E078A50CA2}" destId="{24B4C404-12DE-48A7-86BC-711E58FD06ED}" srcOrd="1" destOrd="0" presId="urn:microsoft.com/office/officeart/2018/5/layout/IconCircleLabelList"/>
    <dgm:cxn modelId="{0481AF90-4C43-48C5-8E9F-1B506536DD15}" type="presParOf" srcId="{BABE4E6B-EE0B-486E-BF0C-24E078A50CA2}" destId="{E9A3F66C-FA26-44C8-85BF-D75A5D97954E}" srcOrd="2" destOrd="0" presId="urn:microsoft.com/office/officeart/2018/5/layout/IconCircleLabelList"/>
    <dgm:cxn modelId="{A5BD9D0D-CB2E-4006-ABE6-8441D40E8D5D}" type="presParOf" srcId="{BABE4E6B-EE0B-486E-BF0C-24E078A50CA2}" destId="{547B1EDC-956F-4006-BF40-841784C2F099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12FCB0D-EF3F-4609-BB06-FF905F1BA8B5}">
      <dsp:nvSpPr>
        <dsp:cNvPr id="0" name=""/>
        <dsp:cNvSpPr/>
      </dsp:nvSpPr>
      <dsp:spPr>
        <a:xfrm>
          <a:off x="973190" y="986724"/>
          <a:ext cx="1264141" cy="1264141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9F6AB67-8A6E-42E4-BDF0-4221DACDD1D3}">
      <dsp:nvSpPr>
        <dsp:cNvPr id="0" name=""/>
        <dsp:cNvSpPr/>
      </dsp:nvSpPr>
      <dsp:spPr>
        <a:xfrm>
          <a:off x="1242597" y="1256131"/>
          <a:ext cx="725326" cy="72532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F9529ED-3FDD-49C9-8911-804870C632ED}">
      <dsp:nvSpPr>
        <dsp:cNvPr id="0" name=""/>
        <dsp:cNvSpPr/>
      </dsp:nvSpPr>
      <dsp:spPr>
        <a:xfrm>
          <a:off x="569079" y="2644614"/>
          <a:ext cx="2072362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ru-RU" sz="1400" kern="1200"/>
            <a:t>• Text descriptions</a:t>
          </a:r>
          <a:endParaRPr lang="en-US" sz="1400" kern="1200"/>
        </a:p>
      </dsp:txBody>
      <dsp:txXfrm>
        <a:off x="569079" y="2644614"/>
        <a:ext cx="2072362" cy="720000"/>
      </dsp:txXfrm>
    </dsp:sp>
    <dsp:sp modelId="{BA3674A1-7E54-4D24-A153-4B89DCCD8A3B}">
      <dsp:nvSpPr>
        <dsp:cNvPr id="0" name=""/>
        <dsp:cNvSpPr/>
      </dsp:nvSpPr>
      <dsp:spPr>
        <a:xfrm>
          <a:off x="3408216" y="986724"/>
          <a:ext cx="1264141" cy="1264141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B21E6BD-D185-4B53-AD49-D6247AF72C74}">
      <dsp:nvSpPr>
        <dsp:cNvPr id="0" name=""/>
        <dsp:cNvSpPr/>
      </dsp:nvSpPr>
      <dsp:spPr>
        <a:xfrm>
          <a:off x="3677623" y="1256131"/>
          <a:ext cx="725326" cy="72532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683C531-DCF4-4B63-85CD-F6D4C7FAD407}">
      <dsp:nvSpPr>
        <dsp:cNvPr id="0" name=""/>
        <dsp:cNvSpPr/>
      </dsp:nvSpPr>
      <dsp:spPr>
        <a:xfrm>
          <a:off x="3004105" y="2644614"/>
          <a:ext cx="2072362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ru-RU" sz="1400" kern="1200"/>
            <a:t>• Sample queries</a:t>
          </a:r>
          <a:endParaRPr lang="en-US" sz="1400" kern="1200"/>
        </a:p>
      </dsp:txBody>
      <dsp:txXfrm>
        <a:off x="3004105" y="2644614"/>
        <a:ext cx="2072362" cy="720000"/>
      </dsp:txXfrm>
    </dsp:sp>
    <dsp:sp modelId="{C9367336-D55B-479E-8E03-3407584D4BF1}">
      <dsp:nvSpPr>
        <dsp:cNvPr id="0" name=""/>
        <dsp:cNvSpPr/>
      </dsp:nvSpPr>
      <dsp:spPr>
        <a:xfrm>
          <a:off x="5843242" y="986724"/>
          <a:ext cx="1264141" cy="1264141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E296114-3DF8-4792-9E07-2939339DCE0A}">
      <dsp:nvSpPr>
        <dsp:cNvPr id="0" name=""/>
        <dsp:cNvSpPr/>
      </dsp:nvSpPr>
      <dsp:spPr>
        <a:xfrm>
          <a:off x="6112649" y="1256131"/>
          <a:ext cx="725326" cy="72532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0BC48F1-1319-4E83-9B16-A2E5AE18C494}">
      <dsp:nvSpPr>
        <dsp:cNvPr id="0" name=""/>
        <dsp:cNvSpPr/>
      </dsp:nvSpPr>
      <dsp:spPr>
        <a:xfrm>
          <a:off x="5439131" y="2644614"/>
          <a:ext cx="2072362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ru-RU" sz="1400" kern="1200"/>
            <a:t>• Audio upload </a:t>
          </a:r>
          <a:endParaRPr lang="en-US" sz="1400" kern="1200"/>
        </a:p>
      </dsp:txBody>
      <dsp:txXfrm>
        <a:off x="5439131" y="2644614"/>
        <a:ext cx="2072362" cy="720000"/>
      </dsp:txXfrm>
    </dsp:sp>
    <dsp:sp modelId="{DF39C5AA-507E-44F8-99C4-BB8EC5B807C1}">
      <dsp:nvSpPr>
        <dsp:cNvPr id="0" name=""/>
        <dsp:cNvSpPr/>
      </dsp:nvSpPr>
      <dsp:spPr>
        <a:xfrm>
          <a:off x="8278268" y="986724"/>
          <a:ext cx="1264141" cy="1264141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4B4C404-12DE-48A7-86BC-711E58FD06ED}">
      <dsp:nvSpPr>
        <dsp:cNvPr id="0" name=""/>
        <dsp:cNvSpPr/>
      </dsp:nvSpPr>
      <dsp:spPr>
        <a:xfrm>
          <a:off x="8547675" y="1256131"/>
          <a:ext cx="725326" cy="72532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47B1EDC-956F-4006-BF40-841784C2F099}">
      <dsp:nvSpPr>
        <dsp:cNvPr id="0" name=""/>
        <dsp:cNvSpPr/>
      </dsp:nvSpPr>
      <dsp:spPr>
        <a:xfrm>
          <a:off x="7874157" y="2644614"/>
          <a:ext cx="2072362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ru-RU" sz="1400" kern="1200"/>
            <a:t>• Results with metadata, genre badges, similarity scores</a:t>
          </a:r>
          <a:endParaRPr lang="en-US" sz="1400" kern="1200"/>
        </a:p>
      </dsp:txBody>
      <dsp:txXfrm>
        <a:off x="7874157" y="2644614"/>
        <a:ext cx="2072362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FD2261B-386A-C647-2D01-F02986FABF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DC6140C-BBAC-C32A-F484-B07DFC627E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13130D2-A5E4-4573-9036-6B3657158A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FF79C-81A2-4367-B818-B1535D928D95}" type="datetimeFigureOut">
              <a:rPr lang="ru-RU" smtClean="0"/>
              <a:t>14.07.2026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C03FF89-7F97-F96D-B23C-1E9B912A98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6540CB9-AFA2-A2BB-3895-551A2932E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C5F5A-6C83-4A55-8C09-413B67D2B5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06943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9733593-1E12-104F-4079-02DE155D2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28ADC99-35A1-FE1C-DA61-AFB1EE6FCB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BE0C107-B36D-7D59-9BF3-B1DE4DDB3E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FF79C-81A2-4367-B818-B1535D928D95}" type="datetimeFigureOut">
              <a:rPr lang="ru-RU" smtClean="0"/>
              <a:t>14.07.2026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58A3615-AC9E-1E49-3B90-D62081D49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0A56E6D-B0F3-621A-8A97-F71727824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C5F5A-6C83-4A55-8C09-413B67D2B5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43554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2AE0AF-6EB6-61A1-589D-D662AFB0A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923E0E4-BA85-CD0C-062F-8282962DFE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C839F84-EFC8-BF6C-327A-DDF5320FDB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FF79C-81A2-4367-B818-B1535D928D95}" type="datetimeFigureOut">
              <a:rPr lang="ru-RU" smtClean="0"/>
              <a:t>14.07.2026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3C45BBE-72E6-4D91-98E4-7822871048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F01528E-3F19-AFCE-10BC-9A0AE3C58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C5F5A-6C83-4A55-8C09-413B67D2B5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04503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50E6516-A49A-D228-576A-15CEF90A02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D009953-4768-903F-D5E3-E086F6B6C7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20C9924-A39F-D037-DA96-90CC6BCC37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3E5004E-104C-568A-1C30-F3342AF6B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FF79C-81A2-4367-B818-B1535D928D95}" type="datetimeFigureOut">
              <a:rPr lang="ru-RU" smtClean="0"/>
              <a:t>14.07.2026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3650E03-CD95-DD0C-8D25-723BF9ECF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B1ECDD3-F611-7C19-20B9-A5AA9D5A3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C5F5A-6C83-4A55-8C09-413B67D2B5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272277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B982223-974F-E403-B847-7A64B2803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87F3515-50F8-CC23-BA30-EEB2FF9E77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3E95934-9F61-2628-4684-FBC403A3F4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ED91C311-FC1E-C6CB-5D32-CF875A4865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5CA4DA0-D32F-17CF-4372-EB4506EB92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F0264C35-511F-B7AC-6A5C-7FC960F9A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FF79C-81A2-4367-B818-B1535D928D95}" type="datetimeFigureOut">
              <a:rPr lang="ru-RU" smtClean="0"/>
              <a:t>14.07.2026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86AF7FB3-BE59-ED6A-4F67-8B9070724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96D4A1C6-E8BB-C555-49C7-202579FF4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C5F5A-6C83-4A55-8C09-413B67D2B5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06613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F91CF7-6190-8A19-3ECB-6018CEDC15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3CF0A667-0EA3-C4BC-DF6A-F4F5D2F88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FF79C-81A2-4367-B818-B1535D928D95}" type="datetimeFigureOut">
              <a:rPr lang="ru-RU" smtClean="0"/>
              <a:t>14.07.2026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31DABBC8-0CFF-09BB-1BEE-46F2F3102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2230E71-5F38-FECB-850E-708E948E2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C5F5A-6C83-4A55-8C09-413B67D2B5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636222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6E8C74F6-2599-C69A-A0DD-3442F5596D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FF79C-81A2-4367-B818-B1535D928D95}" type="datetimeFigureOut">
              <a:rPr lang="ru-RU" smtClean="0"/>
              <a:t>14.07.2026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7C497188-19D4-A73A-65E6-A67553E5A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F6F60A6-DD0A-3DEE-C3E7-0F834A826F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C5F5A-6C83-4A55-8C09-413B67D2B5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87190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921B2AF-880F-2356-0CBE-33DFD230B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1D6B709-E96F-6DDD-27FC-8F4E21F936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7D2D5CE-2589-7D0B-2952-4F1D5EE0FB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987E147-B61D-E31E-57A1-B0FDDCBDC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FF79C-81A2-4367-B818-B1535D928D95}" type="datetimeFigureOut">
              <a:rPr lang="ru-RU" smtClean="0"/>
              <a:t>14.07.2026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CEFE946-51D6-FBA3-3068-83003D1A82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DC8359A-153A-1715-E388-DC2EB175F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C5F5A-6C83-4A55-8C09-413B67D2B5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64448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4F5380-3FB6-CCE2-0435-F570C36A60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49183736-DA7F-2F33-08FA-7E58E0F0958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4244DDE-3171-19D5-BB4A-EC556B3A29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EFD0F8C-4B5F-A839-5FFA-539D63AA8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FF79C-81A2-4367-B818-B1535D928D95}" type="datetimeFigureOut">
              <a:rPr lang="ru-RU" smtClean="0"/>
              <a:t>14.07.2026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65B6D85-77B0-62D8-0CD3-59637AF87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27A4AD1-4904-0437-F43B-344AE3EA9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C5F5A-6C83-4A55-8C09-413B67D2B5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36897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C668B3-075C-AFB0-ECD5-C9183A8EFC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C47CF5D4-9AF7-03B4-32EE-4C187C4059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58E7344-4C93-A52E-619A-8F508F44CC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FF79C-81A2-4367-B818-B1535D928D95}" type="datetimeFigureOut">
              <a:rPr lang="ru-RU" smtClean="0"/>
              <a:t>14.07.2026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34A48AE-7778-1AD3-AF69-0277AAC915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BEDAE73-4E8E-6733-EF2D-B91788130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C5F5A-6C83-4A55-8C09-413B67D2B5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366590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2A57DC38-7F23-5646-9F86-F06EB2E69A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AFA74B9-7D3B-716B-0C1F-F0BA1083D1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E641325-53FF-D796-FE26-4D8CB5543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FF79C-81A2-4367-B818-B1535D928D95}" type="datetimeFigureOut">
              <a:rPr lang="ru-RU" smtClean="0"/>
              <a:t>14.07.2026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74B3ADC-9ECE-E04B-5A69-B61032F4D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1CA24BE-AE15-4DF5-98AE-5578B41F7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C5F5A-6C83-4A55-8C09-413B67D2B5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23402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6C1953B-B3FF-880A-E5A9-40056FF52E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46A8574-9CEF-2226-94E1-D5AFAED634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C58B3ED-CA18-2CD1-A870-D038D73353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1FF79C-81A2-4367-B818-B1535D928D95}" type="datetimeFigureOut">
              <a:rPr lang="ru-RU" smtClean="0"/>
              <a:t>14.07.2026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0544FFC-F230-63F1-96C3-06C843F22F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C859838-18A2-3135-2102-83DDDBEF1A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6C5F5A-6C83-4A55-8C09-413B67D2B50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79451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4E1BEB12-92AF-4445-98AD-4C7756E7C9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0522C2C-7B5C-48A7-A969-03941E5D2E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Freeform 13">
            <a:extLst>
              <a:ext uri="{FF2B5EF4-FFF2-40B4-BE49-F238E27FC236}">
                <a16:creationId xmlns:a16="http://schemas.microsoft.com/office/drawing/2014/main" id="{9C682A1A-5B2D-4111-BBD6-620165633E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769476" y="220196"/>
            <a:ext cx="9422524" cy="6637806"/>
          </a:xfrm>
          <a:custGeom>
            <a:avLst/>
            <a:gdLst>
              <a:gd name="connsiteX0" fmla="*/ 4929467 w 8191500"/>
              <a:gd name="connsiteY0" fmla="*/ 0 h 5770597"/>
              <a:gd name="connsiteX1" fmla="*/ 8065066 w 8191500"/>
              <a:gd name="connsiteY1" fmla="*/ 1118513 h 5770597"/>
              <a:gd name="connsiteX2" fmla="*/ 8191500 w 8191500"/>
              <a:gd name="connsiteY2" fmla="*/ 1227339 h 5770597"/>
              <a:gd name="connsiteX3" fmla="*/ 8191500 w 8191500"/>
              <a:gd name="connsiteY3" fmla="*/ 5770597 h 5770597"/>
              <a:gd name="connsiteX4" fmla="*/ 79523 w 8191500"/>
              <a:gd name="connsiteY4" fmla="*/ 5770597 h 5770597"/>
              <a:gd name="connsiteX5" fmla="*/ 56799 w 8191500"/>
              <a:gd name="connsiteY5" fmla="*/ 5644158 h 5770597"/>
              <a:gd name="connsiteX6" fmla="*/ 0 w 8191500"/>
              <a:gd name="connsiteY6" fmla="*/ 4898209 h 5770597"/>
              <a:gd name="connsiteX7" fmla="*/ 4929467 w 8191500"/>
              <a:gd name="connsiteY7" fmla="*/ 0 h 57705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191500" h="5770597">
                <a:moveTo>
                  <a:pt x="4929467" y="0"/>
                </a:moveTo>
                <a:cubicBezTo>
                  <a:pt x="6120547" y="0"/>
                  <a:pt x="7212963" y="419755"/>
                  <a:pt x="8065066" y="1118513"/>
                </a:cubicBezTo>
                <a:lnTo>
                  <a:pt x="8191500" y="1227339"/>
                </a:lnTo>
                <a:lnTo>
                  <a:pt x="8191500" y="5770597"/>
                </a:lnTo>
                <a:lnTo>
                  <a:pt x="79523" y="5770597"/>
                </a:lnTo>
                <a:lnTo>
                  <a:pt x="56799" y="5644158"/>
                </a:lnTo>
                <a:cubicBezTo>
                  <a:pt x="19398" y="5400934"/>
                  <a:pt x="0" y="5151822"/>
                  <a:pt x="0" y="4898209"/>
                </a:cubicBezTo>
                <a:cubicBezTo>
                  <a:pt x="0" y="2193003"/>
                  <a:pt x="2206998" y="0"/>
                  <a:pt x="4929467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D6EE29F2-D77F-4BD0-A20B-334D316A1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09800" y="2099696"/>
            <a:ext cx="1942241" cy="1889551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Arc 14">
            <a:extLst>
              <a:ext uri="{FF2B5EF4-FFF2-40B4-BE49-F238E27FC236}">
                <a16:creationId xmlns:a16="http://schemas.microsoft.com/office/drawing/2014/main" id="{22D09ED2-868F-42C6-866E-F92E0CEF31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520172">
            <a:off x="1613162" y="1492572"/>
            <a:ext cx="2987899" cy="2987899"/>
          </a:xfrm>
          <a:prstGeom prst="arc">
            <a:avLst>
              <a:gd name="adj1" fmla="val 14455503"/>
              <a:gd name="adj2" fmla="val 227775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8B79771-8AA5-296B-0BEA-9DBA809470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38600" y="1939159"/>
            <a:ext cx="7644627" cy="2751086"/>
          </a:xfrm>
        </p:spPr>
        <p:txBody>
          <a:bodyPr>
            <a:normAutofit/>
          </a:bodyPr>
          <a:lstStyle/>
          <a:p>
            <a:pPr algn="r"/>
            <a:r>
              <a:rPr lang="en-US" sz="2900"/>
              <a:t>AURA</a:t>
            </a:r>
            <a:br>
              <a:rPr lang="en-US" sz="2900"/>
            </a:br>
            <a:r>
              <a:rPr lang="en-US" sz="2900"/>
              <a:t>Mood‑Based Music Discovery</a:t>
            </a:r>
            <a:br>
              <a:rPr lang="en-US" sz="2900"/>
            </a:br>
            <a:r>
              <a:rPr lang="en-US" sz="2900" err="1"/>
              <a:t>Krupenikova</a:t>
            </a:r>
            <a:r>
              <a:rPr lang="en-US" sz="2900"/>
              <a:t> Polina</a:t>
            </a:r>
            <a:br>
              <a:rPr lang="en-US" sz="2900"/>
            </a:br>
            <a:br>
              <a:rPr lang="en-US" sz="2900"/>
            </a:br>
            <a:r>
              <a:rPr lang="en-US" sz="2900" err="1"/>
              <a:t>Innopolis</a:t>
            </a:r>
            <a:r>
              <a:rPr lang="en-US" sz="2900"/>
              <a:t> University</a:t>
            </a:r>
            <a:br>
              <a:rPr lang="en-US" sz="2900"/>
            </a:br>
            <a:r>
              <a:rPr lang="en-US" sz="2900"/>
              <a:t>Summer 2026</a:t>
            </a:r>
            <a:endParaRPr lang="ru-RU" sz="2900"/>
          </a:p>
        </p:txBody>
      </p:sp>
    </p:spTree>
    <p:extLst>
      <p:ext uri="{BB962C8B-B14F-4D97-AF65-F5344CB8AC3E}">
        <p14:creationId xmlns:p14="http://schemas.microsoft.com/office/powerpoint/2010/main" val="26624629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EC7388C-3C93-ED08-B0E0-F036E35963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GB">
                <a:solidFill>
                  <a:srgbClr val="FFFFFF"/>
                </a:solidFill>
              </a:rPr>
              <a:t>Why AURA?</a:t>
            </a:r>
            <a:endParaRPr lang="ru-RU">
              <a:solidFill>
                <a:srgbClr val="FFFFFF"/>
              </a:solidFill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9A0C08A-7229-5532-F6F2-30F43972AD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400" b="1"/>
              <a:t>Problem:</a:t>
            </a:r>
          </a:p>
          <a:p>
            <a:pPr marL="0" indent="0">
              <a:buNone/>
            </a:pPr>
            <a:r>
              <a:rPr lang="en-US" sz="2400"/>
              <a:t>• Music discovery is limited to </a:t>
            </a:r>
            <a:r>
              <a:rPr lang="en-US" sz="2400" b="1"/>
              <a:t>metadata</a:t>
            </a:r>
          </a:p>
          <a:p>
            <a:pPr marL="0" indent="0">
              <a:buNone/>
            </a:pPr>
            <a:r>
              <a:rPr lang="en-US" sz="2400"/>
              <a:t>• Users want to find music that "feels" a certain way</a:t>
            </a:r>
          </a:p>
          <a:p>
            <a:endParaRPr lang="en-US" sz="2400"/>
          </a:p>
          <a:p>
            <a:pPr marL="0" indent="0">
              <a:buNone/>
            </a:pPr>
            <a:r>
              <a:rPr lang="en-US" sz="2400" b="1"/>
              <a:t>Solution:</a:t>
            </a:r>
          </a:p>
          <a:p>
            <a:pPr marL="0" indent="0">
              <a:buNone/>
            </a:pPr>
            <a:r>
              <a:rPr lang="en-US" sz="2400"/>
              <a:t>• Search by </a:t>
            </a:r>
            <a:r>
              <a:rPr lang="en-US" sz="2400" b="1"/>
              <a:t>vibe</a:t>
            </a:r>
            <a:r>
              <a:rPr lang="en-US" sz="2400"/>
              <a:t> – emotional and acoustic character</a:t>
            </a:r>
          </a:p>
          <a:p>
            <a:pPr marL="0" indent="0">
              <a:buNone/>
            </a:pPr>
            <a:r>
              <a:rPr lang="en-US" sz="2400"/>
              <a:t>• Query by text description or audio clip</a:t>
            </a:r>
          </a:p>
          <a:p>
            <a:endParaRPr lang="en-US" sz="2400"/>
          </a:p>
          <a:p>
            <a:pPr marL="0" indent="0">
              <a:buNone/>
            </a:pPr>
            <a:r>
              <a:rPr lang="en-US" sz="2400" b="1"/>
              <a:t>Who Needs It?</a:t>
            </a:r>
          </a:p>
          <a:p>
            <a:pPr marL="0" indent="0">
              <a:buNone/>
            </a:pPr>
            <a:r>
              <a:rPr lang="en-US" sz="2400"/>
              <a:t>• DJs &amp; Producers • Music Therapists </a:t>
            </a:r>
          </a:p>
          <a:p>
            <a:pPr marL="0" indent="0">
              <a:buNone/>
            </a:pPr>
            <a:r>
              <a:rPr lang="en-US" sz="2400"/>
              <a:t>• Game/Film Designers • Casual Listeners</a:t>
            </a:r>
            <a:endParaRPr lang="ru-RU" sz="2400"/>
          </a:p>
        </p:txBody>
      </p:sp>
    </p:spTree>
    <p:extLst>
      <p:ext uri="{BB962C8B-B14F-4D97-AF65-F5344CB8AC3E}">
        <p14:creationId xmlns:p14="http://schemas.microsoft.com/office/powerpoint/2010/main" val="17396107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3">
            <a:extLst>
              <a:ext uri="{FF2B5EF4-FFF2-40B4-BE49-F238E27FC236}">
                <a16:creationId xmlns:a16="http://schemas.microsoft.com/office/drawing/2014/main" id="{28D31E1B-0407-4223-9642-0B642CBF57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2" name="Group 25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062849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1" name="Rectangle 30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656150"/>
            <a:ext cx="5672667" cy="14315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2C9587-115C-5CAD-5724-268D9940B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73940"/>
            <a:ext cx="5052369" cy="10357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 kern="1200">
                <a:latin typeface="+mj-lt"/>
                <a:ea typeface="+mj-ea"/>
                <a:cs typeface="+mj-cs"/>
              </a:rPr>
              <a:t>Architecture</a:t>
            </a:r>
          </a:p>
        </p:txBody>
      </p:sp>
      <p:sp>
        <p:nvSpPr>
          <p:cNvPr id="10" name="Объект 9">
            <a:extLst>
              <a:ext uri="{FF2B5EF4-FFF2-40B4-BE49-F238E27FC236}">
                <a16:creationId xmlns:a16="http://schemas.microsoft.com/office/drawing/2014/main" id="{C2F6EC30-BD9D-CF60-0D50-35E2925E06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9" y="2524721"/>
            <a:ext cx="4991629" cy="367712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en-US" sz="1800" b="1"/>
              <a:t>Key Technologies:</a:t>
            </a:r>
          </a:p>
          <a:p>
            <a:pPr marL="0" indent="0">
              <a:buNone/>
            </a:pPr>
            <a:r>
              <a:rPr lang="en-US" sz="1800"/>
              <a:t>• MERT: State-of-the-art music audio </a:t>
            </a:r>
          </a:p>
          <a:p>
            <a:pPr marL="0" indent="0">
              <a:buNone/>
            </a:pPr>
            <a:r>
              <a:rPr lang="en-US" sz="1800"/>
              <a:t>model</a:t>
            </a:r>
          </a:p>
          <a:p>
            <a:pPr marL="0" indent="0">
              <a:buNone/>
            </a:pPr>
            <a:r>
              <a:rPr lang="en-US" sz="1800"/>
              <a:t>• CLAP: Multimodal text-audio </a:t>
            </a:r>
          </a:p>
          <a:p>
            <a:pPr marL="0" indent="0">
              <a:buNone/>
            </a:pPr>
            <a:r>
              <a:rPr lang="en-US" sz="1800"/>
              <a:t>embeddings</a:t>
            </a:r>
          </a:p>
          <a:p>
            <a:pPr marL="0" indent="0">
              <a:buNone/>
            </a:pPr>
            <a:r>
              <a:rPr lang="en-US" sz="1800"/>
              <a:t>• FAISS/Milvus: Efficient vector search</a:t>
            </a:r>
          </a:p>
          <a:p>
            <a:pPr marL="0" indent="0">
              <a:buNone/>
            </a:pPr>
            <a:r>
              <a:rPr lang="en-US" sz="1800"/>
              <a:t>• PCA + Quantization: Memory/speed </a:t>
            </a:r>
          </a:p>
          <a:p>
            <a:pPr marL="0" indent="0">
              <a:buNone/>
            </a:pPr>
            <a:r>
              <a:rPr lang="en-US" sz="1800"/>
              <a:t>optimization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0E96339-907C-46C3-99AC-31179B6F0E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716299" y="608401"/>
            <a:ext cx="4637502" cy="5593443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ED7A331D-91DE-09E6-9336-572F5B0A25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5855" y="901032"/>
            <a:ext cx="2532528" cy="5116220"/>
          </a:xfrm>
          <a:prstGeom prst="rect">
            <a:avLst/>
          </a:prstGeom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92240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68466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428D436F-9ACD-4C92-AFC8-C934C527A6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tx1">
              <a:alpha val="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90538E0-A884-4E60-A6AB-77D830E2FC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53478" y="0"/>
            <a:ext cx="465738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EB434EC-9E23-C973-5CD3-46B7E6EC1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1162" y="3050434"/>
            <a:ext cx="3722933" cy="757130"/>
          </a:xfrm>
          <a:ln w="25400" cap="sq">
            <a:solidFill>
              <a:srgbClr val="FFFFFF"/>
            </a:solidFill>
            <a:miter lim="800000"/>
          </a:ln>
        </p:spPr>
        <p:txBody>
          <a:bodyPr vert="horz" wrap="square" lIns="91440" tIns="45720" rIns="91440" bIns="45720" rtlCol="0" anchor="ctr">
            <a:normAutofit/>
          </a:bodyPr>
          <a:lstStyle/>
          <a:p>
            <a:pPr algn="ctr"/>
            <a:r>
              <a:rPr lang="en-US" sz="2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Dataset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B0D7DD0-1C67-4D4C-9E06-678233DB84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453478" cy="6858000"/>
          </a:xfrm>
          <a:prstGeom prst="rect">
            <a:avLst/>
          </a:prstGeom>
          <a:solidFill>
            <a:srgbClr val="404040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E56DE6E-F699-5617-9F1F-3749477DA8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536" y="640080"/>
            <a:ext cx="5053066" cy="2546604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1700" dirty="0"/>
              <a:t>FMA (Free Music Archive)</a:t>
            </a:r>
          </a:p>
          <a:p>
            <a:pPr marL="0" indent="0">
              <a:buNone/>
            </a:pPr>
            <a:r>
              <a:rPr lang="en-US" sz="1700" dirty="0"/>
              <a:t>• 25,000 tracks</a:t>
            </a:r>
          </a:p>
          <a:p>
            <a:pPr marL="0" indent="0">
              <a:buNone/>
            </a:pPr>
            <a:r>
              <a:rPr lang="en-US" sz="1700" dirty="0"/>
              <a:t>• 150,000 chunks (10‑second segments)</a:t>
            </a:r>
          </a:p>
          <a:p>
            <a:pPr marL="0" indent="0">
              <a:buNone/>
            </a:pPr>
            <a:r>
              <a:rPr lang="en-US" sz="1700" dirty="0"/>
              <a:t>• Augmentation → 500,000+ chunks</a:t>
            </a:r>
          </a:p>
          <a:p>
            <a:pPr marL="0" indent="0">
              <a:buNone/>
            </a:pPr>
            <a:r>
              <a:rPr lang="en-US" sz="1700" dirty="0"/>
              <a:t>  • Pitch shift (±2 semitones)</a:t>
            </a:r>
          </a:p>
          <a:p>
            <a:pPr marL="0" indent="0">
              <a:buNone/>
            </a:pPr>
            <a:r>
              <a:rPr lang="en-US" sz="1700" dirty="0"/>
              <a:t>  • Time stretch (0.9x, 1.1x)</a:t>
            </a:r>
          </a:p>
          <a:p>
            <a:pPr marL="0" indent="0">
              <a:buNone/>
            </a:pPr>
            <a:r>
              <a:rPr lang="en-US" sz="1700" dirty="0"/>
              <a:t>  • Noise injection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CBAD44-41A5-E0EF-C843-6D0D32E09D76}"/>
              </a:ext>
            </a:extLst>
          </p:cNvPr>
          <p:cNvSpPr txBox="1"/>
          <p:nvPr/>
        </p:nvSpPr>
        <p:spPr>
          <a:xfrm>
            <a:off x="6570204" y="3671315"/>
            <a:ext cx="5057398" cy="25466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400" dirty="0"/>
              <a:t>GTZAN (Validation)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400" dirty="0"/>
              <a:t>• 1,000 tracks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400" dirty="0"/>
              <a:t>• 10 genres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400" dirty="0"/>
              <a:t>• Used as query set for evaluation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sz="1400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400" dirty="0"/>
              <a:t>Why These Datasets?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400" dirty="0"/>
              <a:t>• Large-scale, diverse, freely available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400" dirty="0"/>
              <a:t>• Natural ground truth (genre labels)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400" dirty="0"/>
              <a:t>• Challenging acoustic diversity</a:t>
            </a:r>
          </a:p>
        </p:txBody>
      </p:sp>
    </p:spTree>
    <p:extLst>
      <p:ext uri="{BB962C8B-B14F-4D97-AF65-F5344CB8AC3E}">
        <p14:creationId xmlns:p14="http://schemas.microsoft.com/office/powerpoint/2010/main" val="5659535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6AF47D-15F7-D626-B4C7-F0374409E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5000"/>
              <a:t>Experimental Iterations</a:t>
            </a:r>
            <a:endParaRPr lang="ru-RU" sz="5000"/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650D18FE-0824-4A46-B22C-A86B52E578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B5356BE-5CB8-53E6-30A5-B0857E3FD0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endParaRPr lang="en-US" sz="2200"/>
          </a:p>
          <a:p>
            <a:pPr marL="0" indent="0">
              <a:buNone/>
            </a:pPr>
            <a:endParaRPr lang="en-US" sz="2200"/>
          </a:p>
          <a:p>
            <a:pPr marL="0" indent="0">
              <a:buNone/>
            </a:pPr>
            <a:r>
              <a:rPr lang="en-US" sz="2200"/>
              <a:t>Iteration 1: Baseline using full MERT embeddings with FAISS-HNSW</a:t>
            </a:r>
          </a:p>
          <a:p>
            <a:pPr marL="0" indent="0">
              <a:buNone/>
            </a:pPr>
            <a:r>
              <a:rPr lang="en-US" sz="2200"/>
              <a:t>Iteration 2: Optimized with PCA, quantization, and Milvus-IVF-PQ</a:t>
            </a:r>
          </a:p>
          <a:p>
            <a:pPr marL="0" indent="0">
              <a:buNone/>
            </a:pPr>
            <a:r>
              <a:rPr lang="en-US" sz="2200"/>
              <a:t>Iteration 3: Multimodal text‑to‑audio search using CLAP</a:t>
            </a:r>
            <a:endParaRPr lang="ru-RU" sz="2200"/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ECD42C77-4545-2B52-4BA0-23A8B2D822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7965625"/>
              </p:ext>
            </p:extLst>
          </p:nvPr>
        </p:nvGraphicFramePr>
        <p:xfrm>
          <a:off x="6099048" y="2582343"/>
          <a:ext cx="5458971" cy="1693314"/>
        </p:xfrm>
        <a:graphic>
          <a:graphicData uri="http://schemas.openxmlformats.org/drawingml/2006/table">
            <a:tbl>
              <a:tblPr firstRow="1" bandRow="1">
                <a:solidFill>
                  <a:schemeClr val="bg1"/>
                </a:solidFill>
                <a:tableStyleId>{5C22544A-7EE6-4342-B048-85BDC9FD1C3A}</a:tableStyleId>
              </a:tblPr>
              <a:tblGrid>
                <a:gridCol w="1070882">
                  <a:extLst>
                    <a:ext uri="{9D8B030D-6E8A-4147-A177-3AD203B41FA5}">
                      <a16:colId xmlns:a16="http://schemas.microsoft.com/office/drawing/2014/main" val="801240731"/>
                    </a:ext>
                  </a:extLst>
                </a:gridCol>
                <a:gridCol w="1185238">
                  <a:extLst>
                    <a:ext uri="{9D8B030D-6E8A-4147-A177-3AD203B41FA5}">
                      <a16:colId xmlns:a16="http://schemas.microsoft.com/office/drawing/2014/main" val="3136829331"/>
                    </a:ext>
                  </a:extLst>
                </a:gridCol>
                <a:gridCol w="657121">
                  <a:extLst>
                    <a:ext uri="{9D8B030D-6E8A-4147-A177-3AD203B41FA5}">
                      <a16:colId xmlns:a16="http://schemas.microsoft.com/office/drawing/2014/main" val="1417736999"/>
                    </a:ext>
                  </a:extLst>
                </a:gridCol>
                <a:gridCol w="459876">
                  <a:extLst>
                    <a:ext uri="{9D8B030D-6E8A-4147-A177-3AD203B41FA5}">
                      <a16:colId xmlns:a16="http://schemas.microsoft.com/office/drawing/2014/main" val="4065457079"/>
                    </a:ext>
                  </a:extLst>
                </a:gridCol>
                <a:gridCol w="891774">
                  <a:extLst>
                    <a:ext uri="{9D8B030D-6E8A-4147-A177-3AD203B41FA5}">
                      <a16:colId xmlns:a16="http://schemas.microsoft.com/office/drawing/2014/main" val="3062504650"/>
                    </a:ext>
                  </a:extLst>
                </a:gridCol>
                <a:gridCol w="502952">
                  <a:extLst>
                    <a:ext uri="{9D8B030D-6E8A-4147-A177-3AD203B41FA5}">
                      <a16:colId xmlns:a16="http://schemas.microsoft.com/office/drawing/2014/main" val="841482027"/>
                    </a:ext>
                  </a:extLst>
                </a:gridCol>
                <a:gridCol w="691128">
                  <a:extLst>
                    <a:ext uri="{9D8B030D-6E8A-4147-A177-3AD203B41FA5}">
                      <a16:colId xmlns:a16="http://schemas.microsoft.com/office/drawing/2014/main" val="2974972772"/>
                    </a:ext>
                  </a:extLst>
                </a:gridCol>
              </a:tblGrid>
              <a:tr h="309063">
                <a:tc>
                  <a:txBody>
                    <a:bodyPr/>
                    <a:lstStyle/>
                    <a:p>
                      <a:r>
                        <a:rPr lang="en-US" sz="1000" b="0" cap="none" spc="0">
                          <a:solidFill>
                            <a:schemeClr val="bg1"/>
                          </a:solidFill>
                        </a:rPr>
                        <a:t>Iteration</a:t>
                      </a:r>
                      <a:endParaRPr lang="ru-RU" sz="1000" b="0" cap="none" spc="0">
                        <a:solidFill>
                          <a:schemeClr val="bg1"/>
                        </a:solidFill>
                      </a:endParaRPr>
                    </a:p>
                  </a:txBody>
                  <a:tcPr marL="84883" marR="65295" marT="65295" marB="65295" anchor="ctr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38100" cmpd="sng">
                      <a:noFill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0" cap="none" spc="0">
                          <a:solidFill>
                            <a:schemeClr val="bg1"/>
                          </a:solidFill>
                        </a:rPr>
                        <a:t>Model</a:t>
                      </a:r>
                      <a:endParaRPr lang="ru-RU" sz="1000" b="0" cap="none" spc="0">
                        <a:solidFill>
                          <a:schemeClr val="bg1"/>
                        </a:solidFill>
                      </a:endParaRPr>
                    </a:p>
                  </a:txBody>
                  <a:tcPr marL="84883" marR="65295" marT="65295" marB="65295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38100" cmpd="sng">
                      <a:noFill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0" cap="none" spc="0">
                          <a:solidFill>
                            <a:schemeClr val="bg1"/>
                          </a:solidFill>
                        </a:rPr>
                        <a:t>Index</a:t>
                      </a:r>
                      <a:endParaRPr lang="ru-RU" sz="1000" b="0" cap="none" spc="0">
                        <a:solidFill>
                          <a:schemeClr val="bg1"/>
                        </a:solidFill>
                      </a:endParaRPr>
                    </a:p>
                  </a:txBody>
                  <a:tcPr marL="84883" marR="65295" marT="65295" marB="65295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38100" cmpd="sng">
                      <a:noFill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0" cap="none" spc="0">
                          <a:solidFill>
                            <a:schemeClr val="bg1"/>
                          </a:solidFill>
                        </a:rPr>
                        <a:t>Dim</a:t>
                      </a:r>
                      <a:endParaRPr lang="ru-RU" sz="1000" b="0" cap="none" spc="0">
                        <a:solidFill>
                          <a:schemeClr val="bg1"/>
                        </a:solidFill>
                      </a:endParaRPr>
                    </a:p>
                  </a:txBody>
                  <a:tcPr marL="84883" marR="65295" marT="65295" marB="65295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38100" cmpd="sng">
                      <a:noFill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0" cap="none" spc="0">
                          <a:solidFill>
                            <a:schemeClr val="bg1"/>
                          </a:solidFill>
                        </a:rPr>
                        <a:t>Recall@10 </a:t>
                      </a:r>
                      <a:endParaRPr lang="ru-RU" sz="1000" b="0" cap="none" spc="0">
                        <a:solidFill>
                          <a:schemeClr val="bg1"/>
                        </a:solidFill>
                      </a:endParaRPr>
                    </a:p>
                  </a:txBody>
                  <a:tcPr marL="84883" marR="65295" marT="65295" marB="65295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38100" cmpd="sng">
                      <a:noFill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0" cap="none" spc="0">
                          <a:solidFill>
                            <a:schemeClr val="bg1"/>
                          </a:solidFill>
                        </a:rPr>
                        <a:t>QPS</a:t>
                      </a:r>
                      <a:endParaRPr lang="ru-RU" sz="1000" b="0" cap="none" spc="0">
                        <a:solidFill>
                          <a:schemeClr val="bg1"/>
                        </a:solidFill>
                      </a:endParaRPr>
                    </a:p>
                  </a:txBody>
                  <a:tcPr marL="84883" marR="65295" marT="65295" marB="65295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38100" cmpd="sng">
                      <a:noFill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0" cap="none" spc="0">
                          <a:solidFill>
                            <a:schemeClr val="bg1"/>
                          </a:solidFill>
                        </a:rPr>
                        <a:t>Memory</a:t>
                      </a:r>
                      <a:endParaRPr lang="ru-RU" sz="1000" b="0" cap="none" spc="0">
                        <a:solidFill>
                          <a:schemeClr val="bg1"/>
                        </a:solidFill>
                      </a:endParaRPr>
                    </a:p>
                  </a:txBody>
                  <a:tcPr marL="84883" marR="65295" marT="65295" marB="65295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</a:lnT>
                    <a:lnB w="38100" cmpd="sng">
                      <a:noFill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6962109"/>
                  </a:ext>
                </a:extLst>
              </a:tr>
              <a:tr h="461417">
                <a:tc>
                  <a:txBody>
                    <a:bodyPr/>
                    <a:lstStyle/>
                    <a:p>
                      <a:r>
                        <a:rPr lang="en-US" sz="1000" cap="none" spc="0">
                          <a:solidFill>
                            <a:schemeClr val="tx1"/>
                          </a:solidFill>
                        </a:rPr>
                        <a:t>1 (Baseline)</a:t>
                      </a:r>
                      <a:endParaRPr lang="ru-RU" sz="1000" cap="none" spc="0">
                        <a:solidFill>
                          <a:schemeClr val="tx1"/>
                        </a:solidFill>
                      </a:endParaRPr>
                    </a:p>
                  </a:txBody>
                  <a:tcPr marL="84883" marR="65295" marT="65295" marB="65295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cap="none" spc="0">
                          <a:solidFill>
                            <a:schemeClr val="tx1"/>
                          </a:solidFill>
                        </a:rPr>
                        <a:t>MERT</a:t>
                      </a:r>
                      <a:endParaRPr lang="ru-RU" sz="1000" cap="none" spc="0">
                        <a:solidFill>
                          <a:schemeClr val="tx1"/>
                        </a:solidFill>
                      </a:endParaRPr>
                    </a:p>
                  </a:txBody>
                  <a:tcPr marL="84883" marR="65295" marT="65295" marB="65295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cap="none" spc="0">
                          <a:solidFill>
                            <a:schemeClr val="tx1"/>
                          </a:solidFill>
                        </a:rPr>
                        <a:t>FAISS-HNSW</a:t>
                      </a:r>
                      <a:endParaRPr lang="ru-RU" sz="1000" cap="none" spc="0">
                        <a:solidFill>
                          <a:schemeClr val="tx1"/>
                        </a:solidFill>
                      </a:endParaRPr>
                    </a:p>
                  </a:txBody>
                  <a:tcPr marL="84883" marR="65295" marT="65295" marB="65295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cap="none" spc="0">
                          <a:solidFill>
                            <a:schemeClr val="tx1"/>
                          </a:solidFill>
                        </a:rPr>
                        <a:t>768</a:t>
                      </a:r>
                      <a:endParaRPr lang="ru-RU" sz="1000" cap="none" spc="0">
                        <a:solidFill>
                          <a:schemeClr val="tx1"/>
                        </a:solidFill>
                      </a:endParaRPr>
                    </a:p>
                  </a:txBody>
                  <a:tcPr marL="84883" marR="65295" marT="65295" marB="65295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cap="none" spc="0">
                          <a:solidFill>
                            <a:schemeClr val="tx1"/>
                          </a:solidFill>
                        </a:rPr>
                        <a:t>0.92</a:t>
                      </a:r>
                      <a:endParaRPr lang="ru-RU" sz="1000" cap="none" spc="0">
                        <a:solidFill>
                          <a:schemeClr val="tx1"/>
                        </a:solidFill>
                      </a:endParaRPr>
                    </a:p>
                  </a:txBody>
                  <a:tcPr marL="84883" marR="65295" marT="65295" marB="65295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cap="none" spc="0">
                          <a:solidFill>
                            <a:schemeClr val="tx1"/>
                          </a:solidFill>
                        </a:rPr>
                        <a:t>35</a:t>
                      </a:r>
                      <a:endParaRPr lang="ru-RU" sz="1000" cap="none" spc="0">
                        <a:solidFill>
                          <a:schemeClr val="tx1"/>
                        </a:solidFill>
                      </a:endParaRPr>
                    </a:p>
                  </a:txBody>
                  <a:tcPr marL="84883" marR="65295" marT="65295" marB="65295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cap="none" spc="0">
                          <a:solidFill>
                            <a:schemeClr val="tx1"/>
                          </a:solidFill>
                        </a:rPr>
                        <a:t>450 MB</a:t>
                      </a:r>
                      <a:endParaRPr lang="ru-RU" sz="1000" cap="none" spc="0">
                        <a:solidFill>
                          <a:schemeClr val="tx1"/>
                        </a:solidFill>
                      </a:endParaRPr>
                    </a:p>
                  </a:txBody>
                  <a:tcPr marL="84883" marR="65295" marT="65295" marB="65295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4183313"/>
                  </a:ext>
                </a:extLst>
              </a:tr>
              <a:tr h="461417">
                <a:tc>
                  <a:txBody>
                    <a:bodyPr/>
                    <a:lstStyle/>
                    <a:p>
                      <a:r>
                        <a:rPr lang="en-US" sz="1000" cap="none" spc="0">
                          <a:solidFill>
                            <a:schemeClr val="tx1"/>
                          </a:solidFill>
                        </a:rPr>
                        <a:t>2 (Optimized)</a:t>
                      </a:r>
                      <a:endParaRPr lang="ru-RU" sz="1000" cap="none" spc="0">
                        <a:solidFill>
                          <a:schemeClr val="tx1"/>
                        </a:solidFill>
                      </a:endParaRPr>
                    </a:p>
                  </a:txBody>
                  <a:tcPr marL="84883" marR="65295" marT="65295" marB="65295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cap="none" spc="0" err="1">
                          <a:solidFill>
                            <a:schemeClr val="tx1"/>
                          </a:solidFill>
                        </a:rPr>
                        <a:t>MERT+PCA+Quant</a:t>
                      </a:r>
                      <a:endParaRPr lang="ru-RU" sz="1000" cap="none" spc="0">
                        <a:solidFill>
                          <a:schemeClr val="tx1"/>
                        </a:solidFill>
                      </a:endParaRPr>
                    </a:p>
                  </a:txBody>
                  <a:tcPr marL="84883" marR="65295" marT="65295" marB="65295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cap="none" spc="0">
                          <a:solidFill>
                            <a:schemeClr val="tx1"/>
                          </a:solidFill>
                        </a:rPr>
                        <a:t>Milvus-IVF-PQ</a:t>
                      </a:r>
                      <a:endParaRPr lang="ru-RU" sz="1000" cap="none" spc="0">
                        <a:solidFill>
                          <a:schemeClr val="tx1"/>
                        </a:solidFill>
                      </a:endParaRPr>
                    </a:p>
                  </a:txBody>
                  <a:tcPr marL="84883" marR="65295" marT="65295" marB="65295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cap="none" spc="0">
                          <a:solidFill>
                            <a:schemeClr val="tx1"/>
                          </a:solidFill>
                        </a:rPr>
                        <a:t>128</a:t>
                      </a:r>
                      <a:endParaRPr lang="ru-RU" sz="1000" cap="none" spc="0">
                        <a:solidFill>
                          <a:schemeClr val="tx1"/>
                        </a:solidFill>
                      </a:endParaRPr>
                    </a:p>
                  </a:txBody>
                  <a:tcPr marL="84883" marR="65295" marT="65295" marB="65295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cap="none" spc="0">
                          <a:solidFill>
                            <a:schemeClr val="tx1"/>
                          </a:solidFill>
                        </a:rPr>
                        <a:t>0.87</a:t>
                      </a:r>
                      <a:endParaRPr lang="ru-RU" sz="1000" cap="none" spc="0">
                        <a:solidFill>
                          <a:schemeClr val="tx1"/>
                        </a:solidFill>
                      </a:endParaRPr>
                    </a:p>
                  </a:txBody>
                  <a:tcPr marL="84883" marR="65295" marT="65295" marB="65295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cap="none" spc="0">
                          <a:solidFill>
                            <a:schemeClr val="tx1"/>
                          </a:solidFill>
                        </a:rPr>
                        <a:t>210</a:t>
                      </a:r>
                      <a:endParaRPr lang="ru-RU" sz="1000" cap="none" spc="0">
                        <a:solidFill>
                          <a:schemeClr val="tx1"/>
                        </a:solidFill>
                      </a:endParaRPr>
                    </a:p>
                  </a:txBody>
                  <a:tcPr marL="84883" marR="65295" marT="65295" marB="65295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cap="none" spc="0">
                          <a:solidFill>
                            <a:schemeClr val="tx1"/>
                          </a:solidFill>
                        </a:rPr>
                        <a:t>85 MB </a:t>
                      </a:r>
                      <a:endParaRPr lang="ru-RU" sz="1000" cap="none" spc="0">
                        <a:solidFill>
                          <a:schemeClr val="tx1"/>
                        </a:solidFill>
                      </a:endParaRPr>
                    </a:p>
                  </a:txBody>
                  <a:tcPr marL="84883" marR="65295" marT="65295" marB="65295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036716"/>
                  </a:ext>
                </a:extLst>
              </a:tr>
              <a:tr h="461417">
                <a:tc>
                  <a:txBody>
                    <a:bodyPr/>
                    <a:lstStyle/>
                    <a:p>
                      <a:r>
                        <a:rPr lang="en-US" sz="1000" cap="none" spc="0">
                          <a:solidFill>
                            <a:schemeClr val="tx1"/>
                          </a:solidFill>
                        </a:rPr>
                        <a:t>3 (Multimodal) </a:t>
                      </a:r>
                      <a:endParaRPr lang="ru-RU" sz="1000" cap="none" spc="0">
                        <a:solidFill>
                          <a:schemeClr val="tx1"/>
                        </a:solidFill>
                      </a:endParaRPr>
                    </a:p>
                  </a:txBody>
                  <a:tcPr marL="84883" marR="65295" marT="65295" marB="65295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cap="none" spc="0">
                          <a:solidFill>
                            <a:schemeClr val="tx1"/>
                          </a:solidFill>
                        </a:rPr>
                        <a:t>CLAP</a:t>
                      </a:r>
                      <a:endParaRPr lang="ru-RU" sz="1000" cap="none" spc="0">
                        <a:solidFill>
                          <a:schemeClr val="tx1"/>
                        </a:solidFill>
                      </a:endParaRPr>
                    </a:p>
                  </a:txBody>
                  <a:tcPr marL="84883" marR="65295" marT="65295" marB="65295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cap="none" spc="0">
                          <a:solidFill>
                            <a:schemeClr val="tx1"/>
                          </a:solidFill>
                        </a:rPr>
                        <a:t>Milvus-IVF-PQ</a:t>
                      </a:r>
                      <a:endParaRPr lang="ru-RU" sz="1000" cap="none" spc="0">
                        <a:solidFill>
                          <a:schemeClr val="tx1"/>
                        </a:solidFill>
                      </a:endParaRPr>
                    </a:p>
                  </a:txBody>
                  <a:tcPr marL="84883" marR="65295" marT="65295" marB="65295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cap="none" spc="0">
                          <a:solidFill>
                            <a:schemeClr val="tx1"/>
                          </a:solidFill>
                        </a:rPr>
                        <a:t>512</a:t>
                      </a:r>
                      <a:endParaRPr lang="ru-RU" sz="1000" cap="none" spc="0">
                        <a:solidFill>
                          <a:schemeClr val="tx1"/>
                        </a:solidFill>
                      </a:endParaRPr>
                    </a:p>
                  </a:txBody>
                  <a:tcPr marL="84883" marR="65295" marT="65295" marB="65295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cap="none" spc="0">
                          <a:solidFill>
                            <a:schemeClr val="tx1"/>
                          </a:solidFill>
                        </a:rPr>
                        <a:t>0.68</a:t>
                      </a:r>
                      <a:endParaRPr lang="ru-RU" sz="1000" cap="none" spc="0">
                        <a:solidFill>
                          <a:schemeClr val="tx1"/>
                        </a:solidFill>
                      </a:endParaRPr>
                    </a:p>
                  </a:txBody>
                  <a:tcPr marL="84883" marR="65295" marT="65295" marB="65295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cap="none" spc="0">
                          <a:solidFill>
                            <a:schemeClr val="tx1"/>
                          </a:solidFill>
                        </a:rPr>
                        <a:t>190</a:t>
                      </a:r>
                      <a:endParaRPr lang="ru-RU" sz="1000" cap="none" spc="0">
                        <a:solidFill>
                          <a:schemeClr val="tx1"/>
                        </a:solidFill>
                      </a:endParaRPr>
                    </a:p>
                  </a:txBody>
                  <a:tcPr marL="84883" marR="65295" marT="65295" marB="65295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cap="none" spc="0">
                          <a:solidFill>
                            <a:schemeClr val="tx1"/>
                          </a:solidFill>
                        </a:rPr>
                        <a:t>110 MB </a:t>
                      </a:r>
                      <a:endParaRPr lang="ru-RU" sz="1000" cap="none" spc="0">
                        <a:solidFill>
                          <a:schemeClr val="tx1"/>
                        </a:solidFill>
                      </a:endParaRPr>
                    </a:p>
                  </a:txBody>
                  <a:tcPr marL="84883" marR="65295" marT="65295" marB="65295">
                    <a:lnL w="19050" cap="flat" cmpd="sng" algn="ctr">
                      <a:solidFill>
                        <a:schemeClr val="tx1"/>
                      </a:solidFill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4627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927100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222417-39AE-1640-FA52-FA8F8F5B29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Results - Accuracy</a:t>
            </a:r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A2D0B4-3983-995A-850B-C55456FD3EDA}"/>
              </a:ext>
            </a:extLst>
          </p:cNvPr>
          <p:cNvSpPr txBox="1"/>
          <p:nvPr/>
        </p:nvSpPr>
        <p:spPr>
          <a:xfrm>
            <a:off x="630936" y="2660904"/>
            <a:ext cx="4818888" cy="354787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/>
              <a:t>Key Finding: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/>
              <a:t>Optimized system preserves 94% of baseline accuracy (0.92 → 0.87)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9672E35-0782-4CBD-712A-6541A406C2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9048" y="2064257"/>
            <a:ext cx="5458968" cy="2729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69540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EFFE08-F4F6-C146-55D6-1FC70885E4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051B2AA-C26C-CEE8-10C7-80E4237056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Results – Speed and Memory</a:t>
            </a:r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sX0" fmla="*/ 0 w 4572000"/>
              <a:gd name="csY0" fmla="*/ 0 h 18288"/>
              <a:gd name="csX1" fmla="*/ 515983 w 4572000"/>
              <a:gd name="csY1" fmla="*/ 0 h 18288"/>
              <a:gd name="csX2" fmla="*/ 1031966 w 4572000"/>
              <a:gd name="csY2" fmla="*/ 0 h 18288"/>
              <a:gd name="csX3" fmla="*/ 1639389 w 4572000"/>
              <a:gd name="csY3" fmla="*/ 0 h 18288"/>
              <a:gd name="csX4" fmla="*/ 2383971 w 4572000"/>
              <a:gd name="csY4" fmla="*/ 0 h 18288"/>
              <a:gd name="csX5" fmla="*/ 2945674 w 4572000"/>
              <a:gd name="csY5" fmla="*/ 0 h 18288"/>
              <a:gd name="csX6" fmla="*/ 3507377 w 4572000"/>
              <a:gd name="csY6" fmla="*/ 0 h 18288"/>
              <a:gd name="csX7" fmla="*/ 4572000 w 4572000"/>
              <a:gd name="csY7" fmla="*/ 0 h 18288"/>
              <a:gd name="csX8" fmla="*/ 4572000 w 4572000"/>
              <a:gd name="csY8" fmla="*/ 18288 h 18288"/>
              <a:gd name="csX9" fmla="*/ 3873137 w 4572000"/>
              <a:gd name="csY9" fmla="*/ 18288 h 18288"/>
              <a:gd name="csX10" fmla="*/ 3311434 w 4572000"/>
              <a:gd name="csY10" fmla="*/ 18288 h 18288"/>
              <a:gd name="csX11" fmla="*/ 2749731 w 4572000"/>
              <a:gd name="csY11" fmla="*/ 18288 h 18288"/>
              <a:gd name="csX12" fmla="*/ 2050869 w 4572000"/>
              <a:gd name="csY12" fmla="*/ 18288 h 18288"/>
              <a:gd name="csX13" fmla="*/ 1306286 w 4572000"/>
              <a:gd name="csY13" fmla="*/ 18288 h 18288"/>
              <a:gd name="csX14" fmla="*/ 790303 w 4572000"/>
              <a:gd name="csY14" fmla="*/ 18288 h 18288"/>
              <a:gd name="csX15" fmla="*/ 0 w 4572000"/>
              <a:gd name="csY15" fmla="*/ 18288 h 18288"/>
              <a:gd name="csX16" fmla="*/ 0 w 4572000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E72B4DB-AF63-55F6-AAFC-56CE45A8CF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3006" y="2633472"/>
            <a:ext cx="4482940" cy="3586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15209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E6B93E3-E512-52D7-C9B6-4B60837AA7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GB" sz="5000"/>
              <a:t>Results – Speed and Memory</a:t>
            </a:r>
            <a:endParaRPr lang="ru-RU" sz="5000"/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FDE1D2F-C9E1-15DE-0C24-126D0B8C82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/>
          </a:bodyPr>
          <a:lstStyle/>
          <a:p>
            <a:endParaRPr lang="en-US" sz="2200"/>
          </a:p>
          <a:p>
            <a:pPr marL="0" indent="0">
              <a:buNone/>
            </a:pPr>
            <a:r>
              <a:rPr lang="en-US" sz="2200"/>
              <a:t>Key Results:</a:t>
            </a:r>
          </a:p>
          <a:p>
            <a:pPr marL="0" indent="0">
              <a:buNone/>
            </a:pPr>
            <a:r>
              <a:rPr lang="en-US" sz="2200"/>
              <a:t>• 6× Speedup (35 → 210 QPS)</a:t>
            </a:r>
          </a:p>
          <a:p>
            <a:pPr marL="0" indent="0">
              <a:buNone/>
            </a:pPr>
            <a:r>
              <a:rPr lang="en-US" sz="2200"/>
              <a:t>• 81% Memory Reduction (450 → 85 MB)</a:t>
            </a:r>
          </a:p>
          <a:p>
            <a:pPr marL="0" indent="0">
              <a:buNone/>
            </a:pPr>
            <a:r>
              <a:rPr lang="en-US" sz="2200"/>
              <a:t>• Only 5% Accuracy Loss</a:t>
            </a:r>
            <a:endParaRPr lang="ru-RU" sz="220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2273FEB-A8CC-692E-5237-4318ACF5C5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9048" y="2064257"/>
            <a:ext cx="5458968" cy="2729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75604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1B1BC90-729F-04C3-9ACD-A7AFF62739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en-GB" sz="5400" dirty="0"/>
              <a:t>Overall Performance</a:t>
            </a:r>
            <a:endParaRPr lang="ru-RU" sz="5400" dirty="0"/>
          </a:p>
        </p:txBody>
      </p:sp>
      <p:sp>
        <p:nvSpPr>
          <p:cNvPr id="12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DAF9430-131A-FFB0-0AD3-B83ECC289E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2200" dirty="0"/>
          </a:p>
          <a:p>
            <a:pPr marL="0" indent="0">
              <a:buNone/>
            </a:pPr>
            <a:r>
              <a:rPr lang="en-US" sz="2200" dirty="0"/>
              <a:t>Summary:</a:t>
            </a:r>
          </a:p>
          <a:p>
            <a:pPr marL="0" indent="0">
              <a:buNone/>
            </a:pPr>
            <a:r>
              <a:rPr lang="en-US" sz="2200" dirty="0"/>
              <a:t>• Iteration 2 offers the best balance</a:t>
            </a:r>
          </a:p>
          <a:p>
            <a:pPr marL="0" indent="0">
              <a:buNone/>
            </a:pPr>
            <a:r>
              <a:rPr lang="en-US" sz="2200" dirty="0"/>
              <a:t>• Production-ready: runs on CPU with &lt; 100 MB RAM</a:t>
            </a:r>
          </a:p>
          <a:p>
            <a:pPr marL="0" indent="0">
              <a:buNone/>
            </a:pPr>
            <a:r>
              <a:rPr lang="en-US" sz="2200" dirty="0"/>
              <a:t>• Scalable to </a:t>
            </a:r>
            <a:r>
              <a:rPr lang="en-US" sz="2200" dirty="0" err="1"/>
              <a:t>milions</a:t>
            </a:r>
            <a:r>
              <a:rPr lang="en-US" sz="2200" dirty="0"/>
              <a:t> of tracks via Milvus</a:t>
            </a:r>
            <a:endParaRPr lang="ru-RU" sz="22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9E7220E-F0C5-BCDE-28EB-A7CD3B1476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03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7389070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E2B703B-46F9-481A-A605-82E2A828C4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F085621-BD78-F590-DE35-3430B5203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9863"/>
            <a:ext cx="10515600" cy="1004594"/>
          </a:xfrm>
        </p:spPr>
        <p:txBody>
          <a:bodyPr>
            <a:normAutofit/>
          </a:bodyPr>
          <a:lstStyle/>
          <a:p>
            <a:pPr algn="ctr"/>
            <a:r>
              <a:rPr lang="en-GB">
                <a:solidFill>
                  <a:srgbClr val="FFFFFF"/>
                </a:solidFill>
              </a:rPr>
              <a:t>Live demo</a:t>
            </a:r>
            <a:endParaRPr lang="ru-RU">
              <a:solidFill>
                <a:srgbClr val="FFFFFF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13BE4D7-0C3D-4906-B230-A1C5B4665C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496" y="1587970"/>
            <a:ext cx="11033008" cy="4768380"/>
          </a:xfrm>
          <a:prstGeom prst="roundRect">
            <a:avLst>
              <a:gd name="adj" fmla="val 3174"/>
            </a:avLst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Объект 2">
            <a:extLst>
              <a:ext uri="{FF2B5EF4-FFF2-40B4-BE49-F238E27FC236}">
                <a16:creationId xmlns:a16="http://schemas.microsoft.com/office/drawing/2014/main" id="{F4CFB616-7C59-A0C3-35B2-7B29BA59D3E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25181902"/>
              </p:ext>
            </p:extLst>
          </p:nvPr>
        </p:nvGraphicFramePr>
        <p:xfrm>
          <a:off x="838200" y="1800911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736536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7D8099E-841F-34C3-1BE5-8A7CDF21E5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Key Takeaways</a:t>
            </a:r>
            <a:endParaRPr lang="ru-RU">
              <a:solidFill>
                <a:srgbClr val="FFFFFF"/>
              </a:solidFill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11E47F0-8A58-4EF6-7050-A7A88F34FA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1. PCA + Quantization is highly effective</a:t>
            </a:r>
          </a:p>
          <a:p>
            <a:pPr marL="0" indent="0">
              <a:buNone/>
            </a:pPr>
            <a:r>
              <a:rPr lang="en-US" sz="1800" dirty="0"/>
              <a:t>   • 94% accuracy preserved</a:t>
            </a:r>
          </a:p>
          <a:p>
            <a:pPr marL="0" indent="0">
              <a:buNone/>
            </a:pPr>
            <a:r>
              <a:rPr lang="en-US" sz="1800" dirty="0"/>
              <a:t>   • 6× speedup</a:t>
            </a:r>
          </a:p>
          <a:p>
            <a:pPr marL="0" indent="0">
              <a:buNone/>
            </a:pPr>
            <a:r>
              <a:rPr lang="en-US" sz="1800" dirty="0"/>
              <a:t>   • 81% memory reduction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2. IVF-PQ indexing provides excellent memory-speed trade-off</a:t>
            </a:r>
          </a:p>
          <a:p>
            <a:pPr marL="0" indent="0">
              <a:buNone/>
            </a:pPr>
            <a:r>
              <a:rPr lang="en-US" sz="1800" dirty="0"/>
              <a:t>   • Ideal for large-scale deployments</a:t>
            </a:r>
          </a:p>
          <a:p>
            <a:pPr marL="0" indent="0"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75717827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432</Words>
  <Application>Microsoft Office PowerPoint</Application>
  <PresentationFormat>Широкоэкранный</PresentationFormat>
  <Paragraphs>103</Paragraphs>
  <Slides>11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Тема Office</vt:lpstr>
      <vt:lpstr>AURA Mood‑Based Music Discovery Krupenikova Polina  Innopolis University Summer 2026</vt:lpstr>
      <vt:lpstr>Why AURA?</vt:lpstr>
      <vt:lpstr>Architecture</vt:lpstr>
      <vt:lpstr>Dataset</vt:lpstr>
      <vt:lpstr>Experimental Iterations</vt:lpstr>
      <vt:lpstr>Results - Accuracy</vt:lpstr>
      <vt:lpstr>Results – Speed and Memory</vt:lpstr>
      <vt:lpstr>Results – Speed and Memory</vt:lpstr>
      <vt:lpstr>Overall Performance</vt:lpstr>
      <vt:lpstr>Live demo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Полина Крупеникова</dc:creator>
  <cp:lastModifiedBy>Полина Крупеникова</cp:lastModifiedBy>
  <cp:revision>1</cp:revision>
  <dcterms:created xsi:type="dcterms:W3CDTF">2026-07-14T17:08:22Z</dcterms:created>
  <dcterms:modified xsi:type="dcterms:W3CDTF">2026-07-14T17:41:27Z</dcterms:modified>
</cp:coreProperties>
</file>